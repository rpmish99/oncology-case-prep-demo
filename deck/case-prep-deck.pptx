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01c15aa2-99b0-e163-f5e0-88f47e305dcb}">
          <p14:sldIdLst>
            <p14:sldId id="256"/>
            <p14:sldId id="257"/>
          </p14:sldIdLst>
        </p14:section>
        <p14:section name="Demo" id="{5e64b9d8-13fd-3871-294b-dffba0f733d9}">
          <p14:sldIdLst>
            <p14:sldId id="258"/>
          </p14:sldIdLst>
        </p14:section>
        <p14:section name="Value" id="{7ae744a5-5c83-50b4-fcfc-866318b78822}">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12B"/>
                </a:solidFill>
                <a:latin typeface="+mn-lt"/>
              </a:defRPr>
            </a:pPr>
            <a:r>
              <a:rPr sz="1400" b="0" i="0" u="none" strike="noStrike">
                <a:solidFill>
                  <a:srgbClr val="17212B"/>
                </a:solidFill>
                <a:latin typeface="+mn-lt"/>
              </a:rPr>
              <a:t>Preparation time per case, minutes (assumption)</a:t>
            </a:r>
          </a:p>
        </c:rich>
      </c:tx>
      <c:layout/>
      <c:overlay val="0"/>
    </c:title>
    <c:autoTitleDeleted val="0"/>
    <c:plotArea>
      <c:layout/>
      <c:barChart>
        <c:barDir val="col"/>
        <c:grouping val="clustered"/>
        <c:varyColors val="0"/>
        <c:ser>
          <c:idx val="0"/>
          <c:order val="0"/>
          <c:tx>
            <c:strRef>
              <c:f>Sheet1!$B$1</c:f>
              <c:strCache>
                <c:ptCount val="1"/>
                <c:pt idx="0">
                  <c:v>Minutes per case</c:v>
                </c:pt>
              </c:strCache>
            </c:strRef>
          </c:tx>
          <c:spPr>
            <a:solidFill>
              <a:srgbClr val="5F6B76"/>
            </a:solidFill>
            <a:effectLst/>
          </c:spPr>
          <c:invertIfNegative val="0"/>
          <c:dLbls>
            <c:numFmt formatCode="#,##0" sourceLinked="0"/>
            <c:txPr>
              <a:bodyPr/>
              <a:lstStyle/>
              <a:p>
                <a:pPr>
                  <a:defRPr b="0" i="0" strike="noStrike" sz="1400" u="none">
                    <a:solidFill>
                      <a:srgbClr val="17212B"/>
                    </a:solidFill>
                    <a:latin typeface="+mn-lt"/>
                  </a:defRPr>
                </a:pPr>
              </a:p>
            </c:txPr>
            <c:showLegendKey val="0"/>
            <c:showVal val="1"/>
            <c:showCatName val="0"/>
            <c:showSerName val="0"/>
            <c:showPercent val="0"/>
            <c:showBubbleSize val="0"/>
            <c:showLeaderLines val="0"/>
          </c:dLbls>
          <c:dPt>
            <c:idx val="0"/>
            <c:invertIfNegative val="0"/>
            <c:bubble3D val="0"/>
            <c:spPr>
              <a:solidFill>
                <a:srgbClr val="5F6B76"/>
              </a:solidFill>
              <a:effectLst/>
            </c:spPr>
          </c:dPt>
          <c:dPt>
            <c:idx val="1"/>
            <c:invertIfNegative val="0"/>
            <c:bubble3D val="0"/>
            <c:spPr>
              <a:solidFill>
                <a:srgbClr val="0F766E"/>
              </a:solidFill>
              <a:effectLst/>
            </c:spPr>
          </c:dPt>
          <c:cat>
            <c:multiLvlStrRef>
              <c:f>Sheet1!$A$2:$A$3</c:f>
              <c:multiLvlStrCache>
                <c:ptCount val="2"/>
                <c:lvl>
                  <c:pt idx="0">
                    <c:v>Today</c:v>
                  </c:pt>
                  <c:pt idx="1">
                    <c:v>With the assistant</c:v>
                  </c:pt>
                </c:lvl>
              </c:multiLvlStrCache>
            </c:multiLvlStrRef>
          </c:cat>
          <c:val>
            <c:numRef>
              <c:f>Sheet1!$B$2:$B$3</c:f>
              <c:numCache>
                <c:formatCode>General</c:formatCode>
                <c:ptCount val="2"/>
                <c:pt idx="0">
                  <c:v>75</c:v>
                </c:pt>
                <c:pt idx="1">
                  <c:v>25</c:v>
                </c:pt>
              </c:numCache>
            </c:numRef>
          </c:val>
        </c:ser>
        <c:dLbls>
          <c:numFmt formatCode="#,##0" sourceLinked="0"/>
          <c:txPr>
            <a:bodyPr/>
            <a:lstStyle/>
            <a:p>
              <a:pPr>
                <a:defRPr b="0" i="0" strike="noStrike" sz="1400" u="none">
                  <a:solidFill>
                    <a:srgbClr val="1721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7212B"/>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DE3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7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customer and the two users. The point is not that charts are hard to read. It is that the reviewer has to look in five places and compare them by eye. In this demo case the navigator's note says HER2 positive, while the signed pathology report says HER2 negative. That kind of mismatch is what we want caught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what the team does now. Right side is what the demo does. Stress that the oncologist is still the decision maker: the tool prepares and checks, and a person approves. The product surface is the OpenAI Platform. Everything you will see is built from the Responses API and the Agents SDK, with File Search and MCP as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OpenAI side. A manager agent on gpt-6.1-sol starts three specialists together. The patient data and history specialists read the record through an MCP server. The evidence specialist searches the pathway documents with File Search and looks up PubMed. The specialists use gpt-6.1-terra, which is faster and cheaper, because they are reading and extracting. A separate verifier checks the draft. Then the run pauses for the oncologist. Everything runs in the customer's own AWS account; only model calls and pathway search go to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measured from assumed. Measured on the synthetic case: about 88 seconds of agent work and under ten cents of model cost per case, and the checks on the planted problems passed in every one of ten runs. Assumed: forty cases a month and preparation dropping from seventy-five minutes to twenty-five, which gives about thirty-three hours a month. The dollar value of that time is modest. The bigger reason is catching conflicts before the meeting, which a pilot would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safety first, then the plan. The tool prepares and checks. A clinician decides. Nothing is written to a record. For real patient data we would first confirm the contract terms and run on de-identified past cases, so we can compare the assistant against what the tumor board actually concluded.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7C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7C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1097280"/>
          </a:xfrm>
          <a:prstGeom prst="rect">
            <a:avLst/>
          </a:prstGeom>
          <a:noFill/>
          <a:ln/>
        </p:spPr>
        <p:txBody>
          <a:bodyPr wrap="square" lIns="0" tIns="0" rIns="0" bIns="0" rtlCol="0" anchor="t"/>
          <a:lstStyle/>
          <a:p>
            <a:pPr algn="l" indent="0" marL="0">
              <a:buNone/>
            </a:pPr>
            <a:r>
              <a:rPr lang="en-US" sz="3600" b="1" dirty="0">
                <a:solidFill>
                  <a:schemeClr val="bg1"/>
                </a:solidFill>
              </a:rPr>
              <a:t>Preparing breast cancer cases for tumor board</a:t>
            </a:r>
            <a:endParaRPr lang="en-US" sz="3600" dirty="0"/>
          </a:p>
        </p:txBody>
      </p:sp>
      <p:sp>
        <p:nvSpPr>
          <p:cNvPr id="3" name="Customer text"/>
          <p:cNvSpPr txBox="1"/>
          <p:nvPr/>
        </p:nvSpPr>
        <p:spPr>
          <a:xfrm>
            <a:off x="548640" y="1645920"/>
            <a:ext cx="6035040" cy="4389120"/>
          </a:xfrm>
          <a:prstGeom prst="rect">
            <a:avLst/>
          </a:prstGeom>
          <a:noFill/>
          <a:ln/>
        </p:spPr>
        <p:txBody>
          <a:bodyPr wrap="square" lIns="0" tIns="0" rIns="0" bIns="0" rtlCol="0" anchor="t"/>
          <a:lstStyle/>
          <a:p>
            <a:pPr indent="0" marL="0">
              <a:buNone/>
            </a:pPr>
            <a:r>
              <a:rPr lang="en-US" sz="1800" b="1" dirty="0">
                <a:solidFill>
                  <a:srgbClr val="9FD8CF"/>
                </a:solidFill>
              </a:rPr>
              <a:t>Customer</a:t>
            </a:r>
            <a:endParaRPr lang="en-US" sz="1800" dirty="0"/>
          </a:p>
          <a:p>
            <a:pPr indent="0" marL="0">
              <a:spcAft>
                <a:spcPts val="1400"/>
              </a:spcAft>
              <a:buNone/>
            </a:pPr>
            <a:r>
              <a:rPr lang="en-US" sz="1800" dirty="0">
                <a:solidFill>
                  <a:schemeClr val="bg1"/>
                </a:solidFill>
              </a:rPr>
              <a:t>Lakeview Cancer Institute, a fictional regional cancer center with about 500 new breast cancer cases a year.</a:t>
            </a:r>
            <a:endParaRPr lang="en-US" sz="1800" dirty="0"/>
          </a:p>
          <a:p>
            <a:pPr indent="0" marL="0">
              <a:buNone/>
            </a:pPr>
            <a:r>
              <a:rPr lang="en-US" sz="1800" b="1" dirty="0">
                <a:solidFill>
                  <a:srgbClr val="9FD8CF"/>
                </a:solidFill>
              </a:rPr>
              <a:t>Who does the work</a:t>
            </a:r>
            <a:endParaRPr lang="en-US" sz="1800" dirty="0"/>
          </a:p>
          <a:p>
            <a:pPr indent="0" marL="0">
              <a:spcAft>
                <a:spcPts val="1400"/>
              </a:spcAft>
              <a:buNone/>
            </a:pPr>
            <a:r>
              <a:rPr lang="en-US" sz="1800" dirty="0">
                <a:solidFill>
                  <a:schemeClr val="bg1"/>
                </a:solidFill>
              </a:rPr>
              <a:t>Breast medical oncologists and nurse navigators, before the weekly tumor board.</a:t>
            </a:r>
            <a:endParaRPr lang="en-US" sz="1800" dirty="0"/>
          </a:p>
          <a:p>
            <a:pPr indent="0" marL="0">
              <a:buNone/>
            </a:pPr>
            <a:r>
              <a:rPr lang="en-US" sz="1800" b="1" dirty="0">
                <a:solidFill>
                  <a:srgbClr val="9FD8CF"/>
                </a:solidFill>
              </a:rPr>
              <a:t>The problem</a:t>
            </a:r>
            <a:endParaRPr lang="en-US" sz="1800" dirty="0"/>
          </a:p>
          <a:p>
            <a:pPr indent="0" marL="0">
              <a:buNone/>
            </a:pPr>
            <a:r>
              <a:rPr lang="en-US" sz="1800" dirty="0">
                <a:solidFill>
                  <a:schemeClr val="bg1"/>
                </a:solidFill>
              </a:rPr>
              <a:t>For each case, someone reads pathology, imaging, genomics, clinic notes and the problem list in separate places, then checks the institution's treatment pathway. It is slow, and a disagreement between two sources is easy to miss.</a:t>
            </a:r>
            <a:endParaRPr lang="en-US" sz="1800" dirty="0"/>
          </a:p>
        </p:txBody>
      </p:sp>
      <p:sp>
        <p:nvSpPr>
          <p:cNvPr id="4" name="Stat card 1"/>
          <p:cNvSpPr/>
          <p:nvPr/>
        </p:nvSpPr>
        <p:spPr>
          <a:xfrm>
            <a:off x="7223760" y="1645920"/>
            <a:ext cx="4389120" cy="1325880"/>
          </a:xfrm>
          <a:prstGeom prst="roundRect">
            <a:avLst>
              <a:gd name="adj" fmla="val 8276"/>
            </a:avLst>
          </a:prstGeom>
          <a:solidFill>
            <a:schemeClr val="accent1"/>
          </a:solidFill>
          <a:ln w="12700">
            <a:solidFill>
              <a:schemeClr val="accent1"/>
            </a:solidFill>
            <a:prstDash val="solid"/>
          </a:ln>
        </p:spPr>
      </p:sp>
      <p:sp>
        <p:nvSpPr>
          <p:cNvPr id="5" name="Stat 1"/>
          <p:cNvSpPr txBox="1"/>
          <p:nvPr/>
        </p:nvSpPr>
        <p:spPr>
          <a:xfrm>
            <a:off x="7452360" y="1755648"/>
            <a:ext cx="3931920" cy="685800"/>
          </a:xfrm>
          <a:prstGeom prst="rect">
            <a:avLst/>
          </a:prstGeom>
          <a:noFill/>
          <a:ln/>
        </p:spPr>
        <p:txBody>
          <a:bodyPr wrap="square" lIns="0" tIns="0" rIns="0" bIns="0" rtlCol="0" anchor="ctr"/>
          <a:lstStyle/>
          <a:p>
            <a:pPr indent="0" marL="0">
              <a:buNone/>
            </a:pPr>
            <a:r>
              <a:rPr lang="en-US" sz="3600" b="1" dirty="0">
                <a:solidFill>
                  <a:schemeClr val="bg1"/>
                </a:solidFill>
              </a:rPr>
              <a:t>60 to 90 min</a:t>
            </a:r>
            <a:endParaRPr lang="en-US" sz="3600" dirty="0"/>
          </a:p>
        </p:txBody>
      </p:sp>
      <p:sp>
        <p:nvSpPr>
          <p:cNvPr id="6" name="Stat label 1"/>
          <p:cNvSpPr txBox="1"/>
          <p:nvPr/>
        </p:nvSpPr>
        <p:spPr>
          <a:xfrm>
            <a:off x="7452360" y="2423160"/>
            <a:ext cx="3931920" cy="411480"/>
          </a:xfrm>
          <a:prstGeom prst="rect">
            <a:avLst/>
          </a:prstGeom>
          <a:noFill/>
          <a:ln/>
        </p:spPr>
        <p:txBody>
          <a:bodyPr wrap="square" lIns="0" tIns="0" rIns="0" bIns="0" rtlCol="0" anchor="t"/>
          <a:lstStyle/>
          <a:p>
            <a:pPr indent="0" marL="0">
              <a:buNone/>
            </a:pPr>
            <a:r>
              <a:rPr lang="en-US" sz="1400" dirty="0">
                <a:solidFill>
                  <a:schemeClr val="bg1"/>
                </a:solidFill>
              </a:rPr>
              <a:t>to prepare one case today</a:t>
            </a:r>
            <a:endParaRPr lang="en-US" sz="1400" dirty="0"/>
          </a:p>
        </p:txBody>
      </p:sp>
      <p:sp>
        <p:nvSpPr>
          <p:cNvPr id="7" name="Stat card 2"/>
          <p:cNvSpPr/>
          <p:nvPr/>
        </p:nvSpPr>
        <p:spPr>
          <a:xfrm>
            <a:off x="7223760" y="3154680"/>
            <a:ext cx="4389120" cy="1325880"/>
          </a:xfrm>
          <a:prstGeom prst="roundRect">
            <a:avLst>
              <a:gd name="adj" fmla="val 8276"/>
            </a:avLst>
          </a:prstGeom>
          <a:solidFill>
            <a:schemeClr val="accent1"/>
          </a:solidFill>
          <a:ln w="12700">
            <a:solidFill>
              <a:schemeClr val="accent1"/>
            </a:solidFill>
            <a:prstDash val="solid"/>
          </a:ln>
        </p:spPr>
      </p:sp>
      <p:sp>
        <p:nvSpPr>
          <p:cNvPr id="8" name="Stat 2"/>
          <p:cNvSpPr txBox="1"/>
          <p:nvPr/>
        </p:nvSpPr>
        <p:spPr>
          <a:xfrm>
            <a:off x="7452360" y="3264408"/>
            <a:ext cx="3931920" cy="685800"/>
          </a:xfrm>
          <a:prstGeom prst="rect">
            <a:avLst/>
          </a:prstGeom>
          <a:noFill/>
          <a:ln/>
        </p:spPr>
        <p:txBody>
          <a:bodyPr wrap="square" lIns="0" tIns="0" rIns="0" bIns="0" rtlCol="0" anchor="ctr"/>
          <a:lstStyle/>
          <a:p>
            <a:pPr indent="0" marL="0">
              <a:buNone/>
            </a:pPr>
            <a:r>
              <a:rPr lang="en-US" sz="3600" b="1" dirty="0">
                <a:solidFill>
                  <a:schemeClr val="bg1"/>
                </a:solidFill>
              </a:rPr>
              <a:t>5</a:t>
            </a:r>
            <a:endParaRPr lang="en-US" sz="3600" dirty="0"/>
          </a:p>
        </p:txBody>
      </p:sp>
      <p:sp>
        <p:nvSpPr>
          <p:cNvPr id="9" name="Stat label 2"/>
          <p:cNvSpPr txBox="1"/>
          <p:nvPr/>
        </p:nvSpPr>
        <p:spPr>
          <a:xfrm>
            <a:off x="7452360" y="3931920"/>
            <a:ext cx="3931920" cy="411480"/>
          </a:xfrm>
          <a:prstGeom prst="rect">
            <a:avLst/>
          </a:prstGeom>
          <a:noFill/>
          <a:ln/>
        </p:spPr>
        <p:txBody>
          <a:bodyPr wrap="square" lIns="0" tIns="0" rIns="0" bIns="0" rtlCol="0" anchor="t"/>
          <a:lstStyle/>
          <a:p>
            <a:pPr indent="0" marL="0">
              <a:buNone/>
            </a:pPr>
            <a:r>
              <a:rPr lang="en-US" sz="1400" dirty="0">
                <a:solidFill>
                  <a:schemeClr val="bg1"/>
                </a:solidFill>
              </a:rPr>
              <a:t>places a reviewer reads for each case</a:t>
            </a:r>
            <a:endParaRPr lang="en-US" sz="1400" dirty="0"/>
          </a:p>
        </p:txBody>
      </p:sp>
      <p:sp>
        <p:nvSpPr>
          <p:cNvPr id="10" name="Stat card 3"/>
          <p:cNvSpPr/>
          <p:nvPr/>
        </p:nvSpPr>
        <p:spPr>
          <a:xfrm>
            <a:off x="7223760" y="4663440"/>
            <a:ext cx="4389120" cy="1325880"/>
          </a:xfrm>
          <a:prstGeom prst="roundRect">
            <a:avLst>
              <a:gd name="adj" fmla="val 8276"/>
            </a:avLst>
          </a:prstGeom>
          <a:solidFill>
            <a:schemeClr val="accent1"/>
          </a:solidFill>
          <a:ln w="12700">
            <a:solidFill>
              <a:schemeClr val="accent1"/>
            </a:solidFill>
            <a:prstDash val="solid"/>
          </a:ln>
        </p:spPr>
      </p:sp>
      <p:sp>
        <p:nvSpPr>
          <p:cNvPr id="11" name="Stat 3"/>
          <p:cNvSpPr txBox="1"/>
          <p:nvPr/>
        </p:nvSpPr>
        <p:spPr>
          <a:xfrm>
            <a:off x="7452360" y="4773168"/>
            <a:ext cx="3931920" cy="685800"/>
          </a:xfrm>
          <a:prstGeom prst="rect">
            <a:avLst/>
          </a:prstGeom>
          <a:noFill/>
          <a:ln/>
        </p:spPr>
        <p:txBody>
          <a:bodyPr wrap="square" lIns="0" tIns="0" rIns="0" bIns="0" rtlCol="0" anchor="ctr"/>
          <a:lstStyle/>
          <a:p>
            <a:pPr indent="0" marL="0">
              <a:buNone/>
            </a:pPr>
            <a:r>
              <a:rPr lang="en-US" sz="3600" b="1" dirty="0">
                <a:solidFill>
                  <a:schemeClr val="bg1"/>
                </a:solidFill>
              </a:rPr>
              <a:t>1</a:t>
            </a:r>
            <a:endParaRPr lang="en-US" sz="3600" dirty="0"/>
          </a:p>
        </p:txBody>
      </p:sp>
      <p:sp>
        <p:nvSpPr>
          <p:cNvPr id="12" name="Stat label 3"/>
          <p:cNvSpPr txBox="1"/>
          <p:nvPr/>
        </p:nvSpPr>
        <p:spPr>
          <a:xfrm>
            <a:off x="7452360" y="5440680"/>
            <a:ext cx="3931920" cy="411480"/>
          </a:xfrm>
          <a:prstGeom prst="rect">
            <a:avLst/>
          </a:prstGeom>
          <a:noFill/>
          <a:ln/>
        </p:spPr>
        <p:txBody>
          <a:bodyPr wrap="square" lIns="0" tIns="0" rIns="0" bIns="0" rtlCol="0" anchor="t"/>
          <a:lstStyle/>
          <a:p>
            <a:pPr indent="0" marL="0">
              <a:buNone/>
            </a:pPr>
            <a:r>
              <a:rPr lang="en-US" sz="1400" dirty="0">
                <a:solidFill>
                  <a:schemeClr val="bg1"/>
                </a:solidFill>
              </a:rPr>
              <a:t>wrong HER2 label hidden in the demo case</a:t>
            </a:r>
            <a:endParaRPr lang="en-US" sz="1400" dirty="0"/>
          </a:p>
        </p:txBody>
      </p:sp>
      <p:sp>
        <p:nvSpPr>
          <p:cNvPr id="13" name="Footnote"/>
          <p:cNvSpPr txBox="1"/>
          <p:nvPr/>
        </p:nvSpPr>
        <p:spPr>
          <a:xfrm>
            <a:off x="548640" y="6172200"/>
            <a:ext cx="10058400" cy="320040"/>
          </a:xfrm>
          <a:prstGeom prst="rect">
            <a:avLst/>
          </a:prstGeom>
          <a:noFill/>
          <a:ln/>
        </p:spPr>
        <p:txBody>
          <a:bodyPr wrap="square" lIns="0" tIns="0" rIns="0" bIns="0" rtlCol="0" anchor="ctr"/>
          <a:lstStyle/>
          <a:p>
            <a:pPr indent="0" marL="0">
              <a:buNone/>
            </a:pPr>
            <a:r>
              <a:rPr lang="en-US" sz="1200" dirty="0">
                <a:solidFill>
                  <a:srgbClr val="A9C7C2"/>
                </a:solidFill>
              </a:rPr>
              <a:t>Prep time is an assumption to confirm in a pilot. All patient data in the demo is synthetic.</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C7C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The workflow, before and after</a:t>
            </a:r>
            <a:endParaRPr lang="en-US" sz="3400" dirty="0"/>
          </a:p>
        </p:txBody>
      </p:sp>
      <p:sp>
        <p:nvSpPr>
          <p:cNvPr id="3" name="Today card"/>
          <p:cNvSpPr/>
          <p:nvPr/>
        </p:nvSpPr>
        <p:spPr>
          <a:xfrm>
            <a:off x="548640" y="1463040"/>
            <a:ext cx="5394960" cy="3749040"/>
          </a:xfrm>
          <a:prstGeom prst="roundRect">
            <a:avLst>
              <a:gd name="adj" fmla="val 2927"/>
            </a:avLst>
          </a:prstGeom>
          <a:solidFill>
            <a:schemeClr val="bg2"/>
          </a:solidFill>
          <a:ln w="12700">
            <a:solidFill>
              <a:schemeClr val="bg2"/>
            </a:solidFill>
            <a:prstDash val="solid"/>
          </a:ln>
        </p:spPr>
      </p:sp>
      <p:sp>
        <p:nvSpPr>
          <p:cNvPr id="4" name="Today heading"/>
          <p:cNvSpPr txBox="1"/>
          <p:nvPr/>
        </p:nvSpPr>
        <p:spPr>
          <a:xfrm>
            <a:off x="822960" y="1600200"/>
            <a:ext cx="4846320" cy="457200"/>
          </a:xfrm>
          <a:prstGeom prst="rect">
            <a:avLst/>
          </a:prstGeom>
          <a:noFill/>
          <a:ln/>
        </p:spPr>
        <p:txBody>
          <a:bodyPr wrap="square" lIns="0" tIns="0" rIns="0" bIns="0" rtlCol="0" anchor="ctr"/>
          <a:lstStyle/>
          <a:p>
            <a:pPr indent="0" marL="0">
              <a:buNone/>
            </a:pPr>
            <a:r>
              <a:rPr lang="en-US" sz="2000" b="1" dirty="0">
                <a:solidFill>
                  <a:schemeClr val="tx1"/>
                </a:solidFill>
              </a:rPr>
              <a:t>Today</a:t>
            </a:r>
            <a:endParaRPr lang="en-US" sz="2000" dirty="0"/>
          </a:p>
        </p:txBody>
      </p:sp>
      <p:sp>
        <p:nvSpPr>
          <p:cNvPr id="5" name="Today steps"/>
          <p:cNvSpPr txBox="1"/>
          <p:nvPr/>
        </p:nvSpPr>
        <p:spPr>
          <a:xfrm>
            <a:off x="822960" y="2148840"/>
            <a:ext cx="4846320" cy="29260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tx1"/>
                </a:solidFill>
              </a:rPr>
              <a:t>Open pathology, imaging, genomics and notes one by one</a:t>
            </a:r>
            <a:endParaRPr lang="en-US" sz="1600" dirty="0"/>
          </a:p>
          <a:p>
            <a:pPr marL="342900" indent="-342900">
              <a:spcAft>
                <a:spcPts val="1000"/>
              </a:spcAft>
              <a:buSzPct val="100000"/>
              <a:buFont typeface="+mj-lt"/>
              <a:buAutoNum type="arabicPeriod" startAt="2"/>
            </a:pPr>
            <a:r>
              <a:rPr lang="en-US" sz="1600" dirty="0">
                <a:solidFill>
                  <a:schemeClr val="tx1"/>
                </a:solidFill>
              </a:rPr>
              <a:t>Copy the key facts into a summary</a:t>
            </a:r>
            <a:endParaRPr lang="en-US" sz="1600" dirty="0"/>
          </a:p>
          <a:p>
            <a:pPr marL="342900" indent="-342900">
              <a:spcAft>
                <a:spcPts val="1000"/>
              </a:spcAft>
              <a:buSzPct val="100000"/>
              <a:buFont typeface="+mj-lt"/>
              <a:buAutoNum type="arabicPeriod" startAt="3"/>
            </a:pPr>
            <a:r>
              <a:rPr lang="en-US" sz="1600" dirty="0">
                <a:solidFill>
                  <a:schemeClr val="tx1"/>
                </a:solidFill>
              </a:rPr>
              <a:t>Look up the current treatment pathway</a:t>
            </a:r>
            <a:endParaRPr lang="en-US" sz="1600" dirty="0"/>
          </a:p>
          <a:p>
            <a:pPr marL="342900" indent="-342900">
              <a:spcAft>
                <a:spcPts val="1000"/>
              </a:spcAft>
              <a:buSzPct val="100000"/>
              <a:buFont typeface="+mj-lt"/>
              <a:buAutoNum type="arabicPeriod" startAt="4"/>
            </a:pPr>
            <a:r>
              <a:rPr lang="en-US" sz="1600" dirty="0">
                <a:solidFill>
                  <a:schemeClr val="tx1"/>
                </a:solidFill>
              </a:rPr>
              <a:t>Compare sources by eye and chase gaps</a:t>
            </a:r>
            <a:endParaRPr lang="en-US" sz="1600" dirty="0"/>
          </a:p>
          <a:p>
            <a:pPr marL="342900" indent="-342900">
              <a:spcAft>
                <a:spcPts val="1000"/>
              </a:spcAft>
              <a:buSzPct val="100000"/>
              <a:buFont typeface="+mj-lt"/>
              <a:buAutoNum type="arabicPeriod" startAt="5"/>
            </a:pPr>
            <a:r>
              <a:rPr lang="en-US" sz="1600" dirty="0">
                <a:solidFill>
                  <a:schemeClr val="tx1"/>
                </a:solidFill>
              </a:rPr>
              <a:t>Present from memory and the summary</a:t>
            </a:r>
            <a:endParaRPr lang="en-US" sz="1600" dirty="0"/>
          </a:p>
        </p:txBody>
      </p:sp>
      <p:sp>
        <p:nvSpPr>
          <p:cNvPr id="6" name="With the OpenAI API card"/>
          <p:cNvSpPr/>
          <p:nvPr/>
        </p:nvSpPr>
        <p:spPr>
          <a:xfrm>
            <a:off x="6263640" y="1463040"/>
            <a:ext cx="5394960" cy="3749040"/>
          </a:xfrm>
          <a:prstGeom prst="roundRect">
            <a:avLst>
              <a:gd name="adj" fmla="val 2927"/>
            </a:avLst>
          </a:prstGeom>
          <a:solidFill>
            <a:schemeClr val="bg2"/>
          </a:solidFill>
          <a:ln w="12700">
            <a:solidFill>
              <a:schemeClr val="bg2"/>
            </a:solidFill>
            <a:prstDash val="solid"/>
          </a:ln>
        </p:spPr>
      </p:sp>
      <p:sp>
        <p:nvSpPr>
          <p:cNvPr id="7" name="With the OpenAI API heading"/>
          <p:cNvSpPr txBox="1"/>
          <p:nvPr/>
        </p:nvSpPr>
        <p:spPr>
          <a:xfrm>
            <a:off x="6537960" y="160020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With the OpenAI API</a:t>
            </a:r>
            <a:endParaRPr lang="en-US" sz="2000" dirty="0"/>
          </a:p>
        </p:txBody>
      </p:sp>
      <p:sp>
        <p:nvSpPr>
          <p:cNvPr id="8" name="With the OpenAI API steps"/>
          <p:cNvSpPr txBox="1"/>
          <p:nvPr/>
        </p:nvSpPr>
        <p:spPr>
          <a:xfrm>
            <a:off x="6537960" y="2148840"/>
            <a:ext cx="4846320" cy="29260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tx1"/>
                </a:solidFill>
              </a:rPr>
              <a:t>Oncologist asks for the case to be prepared</a:t>
            </a:r>
            <a:endParaRPr lang="en-US" sz="1600" dirty="0"/>
          </a:p>
          <a:p>
            <a:pPr marL="342900" indent="-342900">
              <a:spcAft>
                <a:spcPts val="1000"/>
              </a:spcAft>
              <a:buSzPct val="100000"/>
              <a:buFont typeface="+mj-lt"/>
              <a:buAutoNum type="arabicPeriod" startAt="2"/>
            </a:pPr>
            <a:r>
              <a:rPr lang="en-US" sz="1600" dirty="0">
                <a:solidFill>
                  <a:schemeClr val="tx1"/>
                </a:solidFill>
              </a:rPr>
              <a:t>Specialists read each record and the pathway documents</a:t>
            </a:r>
            <a:endParaRPr lang="en-US" sz="1600" dirty="0"/>
          </a:p>
          <a:p>
            <a:pPr marL="342900" indent="-342900">
              <a:spcAft>
                <a:spcPts val="1000"/>
              </a:spcAft>
              <a:buSzPct val="100000"/>
              <a:buFont typeface="+mj-lt"/>
              <a:buAutoNum type="arabicPeriod" startAt="3"/>
            </a:pPr>
            <a:r>
              <a:rPr lang="en-US" sz="1600" dirty="0">
                <a:solidFill>
                  <a:schemeClr val="tx1"/>
                </a:solidFill>
              </a:rPr>
              <a:t>A draft lists facts, pathway text and inference separately</a:t>
            </a:r>
            <a:endParaRPr lang="en-US" sz="1600" dirty="0"/>
          </a:p>
          <a:p>
            <a:pPr marL="342900" indent="-342900">
              <a:spcAft>
                <a:spcPts val="1000"/>
              </a:spcAft>
              <a:buSzPct val="100000"/>
              <a:buFont typeface="+mj-lt"/>
              <a:buAutoNum type="arabicPeriod" startAt="4"/>
            </a:pPr>
            <a:r>
              <a:rPr lang="en-US" sz="1600" dirty="0">
                <a:solidFill>
                  <a:schemeClr val="tx1"/>
                </a:solidFill>
              </a:rPr>
              <a:t>A second check flags conflicts and unsupported claims</a:t>
            </a:r>
            <a:endParaRPr lang="en-US" sz="1600" dirty="0"/>
          </a:p>
          <a:p>
            <a:pPr marL="342900" indent="-342900">
              <a:spcAft>
                <a:spcPts val="1000"/>
              </a:spcAft>
              <a:buSzPct val="100000"/>
              <a:buFont typeface="+mj-lt"/>
              <a:buAutoNum type="arabicPeriod" startAt="5"/>
            </a:pPr>
            <a:r>
              <a:rPr lang="en-US" sz="1600" dirty="0">
                <a:solidFill>
                  <a:schemeClr val="tx1"/>
                </a:solidFill>
              </a:rPr>
              <a:t>The oncologist reviews and approves before anything is saved</a:t>
            </a:r>
            <a:endParaRPr lang="en-US" sz="1600" dirty="0"/>
          </a:p>
        </p:txBody>
      </p:sp>
      <p:sp>
        <p:nvSpPr>
          <p:cNvPr id="9" name="Surface banner"/>
          <p:cNvSpPr/>
          <p:nvPr/>
        </p:nvSpPr>
        <p:spPr>
          <a:xfrm>
            <a:off x="548640" y="5440680"/>
            <a:ext cx="11109960" cy="868680"/>
          </a:xfrm>
          <a:prstGeom prst="roundRect">
            <a:avLst>
              <a:gd name="adj" fmla="val 12632"/>
            </a:avLst>
          </a:prstGeom>
          <a:solidFill>
            <a:schemeClr val="accent3"/>
          </a:solidFill>
          <a:ln w="12700">
            <a:solidFill>
              <a:schemeClr val="accent3"/>
            </a:solidFill>
            <a:prstDash val="solid"/>
          </a:ln>
        </p:spPr>
      </p:sp>
      <p:sp>
        <p:nvSpPr>
          <p:cNvPr id="10" name="Surface text"/>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600" b="1" dirty="0">
                <a:solidFill>
                  <a:schemeClr val="bg1"/>
                </a:solidFill>
              </a:rPr>
              <a:t>Product surface: OpenAI Platform and APIs. </a:t>
            </a:r>
            <a:pPr indent="0" marL="0">
              <a:buNone/>
            </a:pPr>
            <a:r>
              <a:rPr lang="en-US" sz="1600" dirty="0">
                <a:solidFill>
                  <a:schemeClr val="bg1"/>
                </a:solidFill>
              </a:rPr>
              <a:t>Responses API for the model calls, Agents SDK for the manager and specialists, File Search for pathway documents, MCP for the patient record, tracing for review.</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How it works</a:t>
            </a:r>
            <a:endParaRPr lang="en-US" sz="3400" dirty="0"/>
          </a:p>
        </p:txBody>
      </p:sp>
      <p:pic>
        <p:nvPicPr>
          <p:cNvPr id="3" name="Agent graph" descr="Agent graph: the oncologist's request goes to a manager agent, which starts three specialists together (patient data, clinical history, evidence). A verifier checks the draft, a clinician approves, and the note is saved with an audit trail.">    </p:cNvPr>
          <p:cNvPicPr>
            <a:picLocks noChangeAspect="1"/>
          </p:cNvPicPr>
          <p:nvPr/>
        </p:nvPicPr>
        <p:blipFill>
          <a:blip r:embed="rId1"/>
          <a:stretch>
            <a:fillRect/>
          </a:stretch>
        </p:blipFill>
        <p:spPr>
          <a:xfrm>
            <a:off x="548640" y="1371600"/>
            <a:ext cx="6675120" cy="4197096"/>
          </a:xfrm>
          <a:prstGeom prst="rect">
            <a:avLst/>
          </a:prstGeom>
        </p:spPr>
      </p:pic>
      <p:sp>
        <p:nvSpPr>
          <p:cNvPr id="4" name="Graph caption"/>
          <p:cNvSpPr txBox="1"/>
          <p:nvPr/>
        </p:nvSpPr>
        <p:spPr>
          <a:xfrm>
            <a:off x="548640" y="5669280"/>
            <a:ext cx="6675120" cy="640080"/>
          </a:xfrm>
          <a:prstGeom prst="rect">
            <a:avLst/>
          </a:prstGeom>
          <a:noFill/>
          <a:ln/>
        </p:spPr>
        <p:txBody>
          <a:bodyPr wrap="square" lIns="0" tIns="0" rIns="0" bIns="0" rtlCol="0" anchor="t"/>
          <a:lstStyle/>
          <a:p>
            <a:pPr indent="0" marL="0">
              <a:buNone/>
            </a:pPr>
            <a:r>
              <a:rPr lang="en-US" sz="1400" dirty="0">
                <a:solidFill>
                  <a:schemeClr val="accent4"/>
                </a:solidFill>
              </a:rPr>
              <a:t>Runs in the customer's AWS account: Cognito sign-in, AgentCore Runtime, an MCP server for the record, and DynamoDB for run state and the audit trail.</a:t>
            </a:r>
            <a:endParaRPr lang="en-US" sz="1400" dirty="0"/>
          </a:p>
        </p:txBody>
      </p:sp>
      <p:sp>
        <p:nvSpPr>
          <p:cNvPr id="5" name="Steps card"/>
          <p:cNvSpPr/>
          <p:nvPr/>
        </p:nvSpPr>
        <p:spPr>
          <a:xfrm>
            <a:off x="7589520" y="1371600"/>
            <a:ext cx="4069080" cy="4937760"/>
          </a:xfrm>
          <a:prstGeom prst="roundRect">
            <a:avLst>
              <a:gd name="adj" fmla="val 2697"/>
            </a:avLst>
          </a:prstGeom>
          <a:solidFill>
            <a:schemeClr val="bg2"/>
          </a:solidFill>
          <a:ln w="12700">
            <a:solidFill>
              <a:schemeClr val="bg2"/>
            </a:solidFill>
            <a:prstDash val="solid"/>
          </a:ln>
        </p:spPr>
      </p:sp>
      <p:sp>
        <p:nvSpPr>
          <p:cNvPr id="6" name="Steps heading"/>
          <p:cNvSpPr txBox="1"/>
          <p:nvPr/>
        </p:nvSpPr>
        <p:spPr>
          <a:xfrm>
            <a:off x="7818120" y="1508760"/>
            <a:ext cx="3657600" cy="411480"/>
          </a:xfrm>
          <a:prstGeom prst="rect">
            <a:avLst/>
          </a:prstGeom>
          <a:noFill/>
          <a:ln/>
        </p:spPr>
        <p:txBody>
          <a:bodyPr wrap="square" lIns="0" tIns="0" rIns="0" bIns="0" rtlCol="0" anchor="ctr"/>
          <a:lstStyle/>
          <a:p>
            <a:pPr indent="0" marL="0">
              <a:buNone/>
            </a:pPr>
            <a:r>
              <a:rPr lang="en-US" sz="1800" b="1" dirty="0">
                <a:solidFill>
                  <a:schemeClr val="tx1"/>
                </a:solidFill>
              </a:rPr>
              <a:t>What happens in a run</a:t>
            </a:r>
            <a:endParaRPr lang="en-US" sz="1800" dirty="0"/>
          </a:p>
        </p:txBody>
      </p:sp>
      <p:sp>
        <p:nvSpPr>
          <p:cNvPr id="7" name="Step badge 1"/>
          <p:cNvSpPr/>
          <p:nvPr/>
        </p:nvSpPr>
        <p:spPr>
          <a:xfrm>
            <a:off x="7818120" y="2148840"/>
            <a:ext cx="411480" cy="411480"/>
          </a:xfrm>
          <a:prstGeom prst="ellipse">
            <a:avLst/>
          </a:prstGeom>
          <a:solidFill>
            <a:schemeClr val="accent1"/>
          </a:solidFill>
          <a:ln w="12700">
            <a:solidFill>
              <a:schemeClr val="accent1"/>
            </a:solidFill>
            <a:prstDash val="solid"/>
          </a:ln>
        </p:spPr>
      </p:sp>
      <p:sp>
        <p:nvSpPr>
          <p:cNvPr id="8" name="Step number 1"/>
          <p:cNvSpPr txBox="1"/>
          <p:nvPr/>
        </p:nvSpPr>
        <p:spPr>
          <a:xfrm>
            <a:off x="7818120" y="21488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Step text 1"/>
          <p:cNvSpPr txBox="1"/>
          <p:nvPr/>
        </p:nvSpPr>
        <p:spPr>
          <a:xfrm>
            <a:off x="8412480" y="2103120"/>
            <a:ext cx="3108960" cy="914400"/>
          </a:xfrm>
          <a:prstGeom prst="rect">
            <a:avLst/>
          </a:prstGeom>
          <a:noFill/>
          <a:ln/>
        </p:spPr>
        <p:txBody>
          <a:bodyPr wrap="square" lIns="0" tIns="0" rIns="0" bIns="0" rtlCol="0" anchor="t"/>
          <a:lstStyle/>
          <a:p>
            <a:pPr indent="0" marL="0">
              <a:buNone/>
            </a:pPr>
            <a:r>
              <a:rPr lang="en-US" sz="1400" dirty="0">
                <a:solidFill>
                  <a:schemeClr val="tx1"/>
                </a:solidFill>
              </a:rPr>
              <a:t>Three specialists start together and read the record and the pathway documents</a:t>
            </a:r>
            <a:endParaRPr lang="en-US" sz="1400" dirty="0"/>
          </a:p>
        </p:txBody>
      </p:sp>
      <p:sp>
        <p:nvSpPr>
          <p:cNvPr id="10" name="Step badge 2"/>
          <p:cNvSpPr/>
          <p:nvPr/>
        </p:nvSpPr>
        <p:spPr>
          <a:xfrm>
            <a:off x="7818120" y="3172968"/>
            <a:ext cx="411480" cy="411480"/>
          </a:xfrm>
          <a:prstGeom prst="ellipse">
            <a:avLst/>
          </a:prstGeom>
          <a:solidFill>
            <a:schemeClr val="accent1"/>
          </a:solidFill>
          <a:ln w="12700">
            <a:solidFill>
              <a:schemeClr val="accent1"/>
            </a:solidFill>
            <a:prstDash val="solid"/>
          </a:ln>
        </p:spPr>
      </p:sp>
      <p:sp>
        <p:nvSpPr>
          <p:cNvPr id="11" name="Step number 2"/>
          <p:cNvSpPr txBox="1"/>
          <p:nvPr/>
        </p:nvSpPr>
        <p:spPr>
          <a:xfrm>
            <a:off x="7818120" y="317296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Step text 2"/>
          <p:cNvSpPr txBox="1"/>
          <p:nvPr/>
        </p:nvSpPr>
        <p:spPr>
          <a:xfrm>
            <a:off x="8412480" y="3127248"/>
            <a:ext cx="3108960" cy="914400"/>
          </a:xfrm>
          <a:prstGeom prst="rect">
            <a:avLst/>
          </a:prstGeom>
          <a:noFill/>
          <a:ln/>
        </p:spPr>
        <p:txBody>
          <a:bodyPr wrap="square" lIns="0" tIns="0" rIns="0" bIns="0" rtlCol="0" anchor="t"/>
          <a:lstStyle/>
          <a:p>
            <a:pPr indent="0" marL="0">
              <a:buNone/>
            </a:pPr>
            <a:r>
              <a:rPr lang="en-US" sz="1400" dirty="0">
                <a:solidFill>
                  <a:schemeClr val="tx1"/>
                </a:solidFill>
              </a:rPr>
              <a:t>The manager drafts a packet that keeps patient facts, pathway text and inference apart</a:t>
            </a:r>
            <a:endParaRPr lang="en-US" sz="1400" dirty="0"/>
          </a:p>
        </p:txBody>
      </p:sp>
      <p:sp>
        <p:nvSpPr>
          <p:cNvPr id="13" name="Step badge 3"/>
          <p:cNvSpPr/>
          <p:nvPr/>
        </p:nvSpPr>
        <p:spPr>
          <a:xfrm>
            <a:off x="7818120" y="4197096"/>
            <a:ext cx="411480" cy="411480"/>
          </a:xfrm>
          <a:prstGeom prst="ellipse">
            <a:avLst/>
          </a:prstGeom>
          <a:solidFill>
            <a:schemeClr val="accent1"/>
          </a:solidFill>
          <a:ln w="12700">
            <a:solidFill>
              <a:schemeClr val="accent1"/>
            </a:solidFill>
            <a:prstDash val="solid"/>
          </a:ln>
        </p:spPr>
      </p:sp>
      <p:sp>
        <p:nvSpPr>
          <p:cNvPr id="14" name="Step number 3"/>
          <p:cNvSpPr txBox="1"/>
          <p:nvPr/>
        </p:nvSpPr>
        <p:spPr>
          <a:xfrm>
            <a:off x="7818120" y="419709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Step text 3"/>
          <p:cNvSpPr txBox="1"/>
          <p:nvPr/>
        </p:nvSpPr>
        <p:spPr>
          <a:xfrm>
            <a:off x="8412480" y="4151376"/>
            <a:ext cx="3108960" cy="914400"/>
          </a:xfrm>
          <a:prstGeom prst="rect">
            <a:avLst/>
          </a:prstGeom>
          <a:noFill/>
          <a:ln/>
        </p:spPr>
        <p:txBody>
          <a:bodyPr wrap="square" lIns="0" tIns="0" rIns="0" bIns="0" rtlCol="0" anchor="t"/>
          <a:lstStyle/>
          <a:p>
            <a:pPr indent="0" marL="0">
              <a:buNone/>
            </a:pPr>
            <a:r>
              <a:rPr lang="en-US" sz="1400" dirty="0">
                <a:solidFill>
                  <a:schemeClr val="tx1"/>
                </a:solidFill>
              </a:rPr>
              <a:t>A separate verifier checks every claim against its source</a:t>
            </a:r>
            <a:endParaRPr lang="en-US" sz="1400" dirty="0"/>
          </a:p>
        </p:txBody>
      </p:sp>
      <p:sp>
        <p:nvSpPr>
          <p:cNvPr id="16" name="Step badge 4"/>
          <p:cNvSpPr/>
          <p:nvPr/>
        </p:nvSpPr>
        <p:spPr>
          <a:xfrm>
            <a:off x="7818120" y="5221224"/>
            <a:ext cx="411480" cy="411480"/>
          </a:xfrm>
          <a:prstGeom prst="ellipse">
            <a:avLst/>
          </a:prstGeom>
          <a:solidFill>
            <a:schemeClr val="accent1"/>
          </a:solidFill>
          <a:ln w="12700">
            <a:solidFill>
              <a:schemeClr val="accent1"/>
            </a:solidFill>
            <a:prstDash val="solid"/>
          </a:ln>
        </p:spPr>
      </p:sp>
      <p:sp>
        <p:nvSpPr>
          <p:cNvPr id="17" name="Step number 4"/>
          <p:cNvSpPr txBox="1"/>
          <p:nvPr/>
        </p:nvSpPr>
        <p:spPr>
          <a:xfrm>
            <a:off x="7818120" y="522122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Step text 4"/>
          <p:cNvSpPr txBox="1"/>
          <p:nvPr/>
        </p:nvSpPr>
        <p:spPr>
          <a:xfrm>
            <a:off x="8412480" y="5175504"/>
            <a:ext cx="3108960" cy="914400"/>
          </a:xfrm>
          <a:prstGeom prst="rect">
            <a:avLst/>
          </a:prstGeom>
          <a:noFill/>
          <a:ln/>
        </p:spPr>
        <p:txBody>
          <a:bodyPr wrap="square" lIns="0" tIns="0" rIns="0" bIns="0" rtlCol="0" anchor="t"/>
          <a:lstStyle/>
          <a:p>
            <a:pPr indent="0" marL="0">
              <a:buNone/>
            </a:pPr>
            <a:r>
              <a:rPr lang="en-US" sz="1400" dirty="0">
                <a:solidFill>
                  <a:schemeClr val="tx1"/>
                </a:solidFill>
              </a:rPr>
              <a:t>The run pauses. Nothing is saved until the oncologist approves</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Expected value</a:t>
            </a:r>
            <a:endParaRPr lang="en-US" sz="3400" dirty="0"/>
          </a:p>
        </p:txBody>
      </p:sp>
      <p:graphicFrame>
        <p:nvGraphicFramePr>
          <p:cNvPr id="3" name="Chart 0" descr=""/>
          <p:cNvGraphicFramePr/>
          <p:nvPr/>
        </p:nvGraphicFramePr>
        <p:xfrm>
          <a:off x="548640" y="137160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4" name="Value card 1"/>
          <p:cNvSpPr/>
          <p:nvPr/>
        </p:nvSpPr>
        <p:spPr>
          <a:xfrm>
            <a:off x="6035040" y="1371600"/>
            <a:ext cx="5623560" cy="1005840"/>
          </a:xfrm>
          <a:prstGeom prst="roundRect">
            <a:avLst>
              <a:gd name="adj" fmla="val 10909"/>
            </a:avLst>
          </a:prstGeom>
          <a:solidFill>
            <a:schemeClr val="bg2"/>
          </a:solidFill>
          <a:ln w="12700">
            <a:solidFill>
              <a:schemeClr val="bg2"/>
            </a:solidFill>
            <a:prstDash val="solid"/>
          </a:ln>
        </p:spPr>
      </p:sp>
      <p:sp>
        <p:nvSpPr>
          <p:cNvPr id="5" name="Value 1"/>
          <p:cNvSpPr txBox="1"/>
          <p:nvPr/>
        </p:nvSpPr>
        <p:spPr>
          <a:xfrm>
            <a:off x="6263640" y="1444752"/>
            <a:ext cx="5166360" cy="457200"/>
          </a:xfrm>
          <a:prstGeom prst="rect">
            <a:avLst/>
          </a:prstGeom>
          <a:noFill/>
          <a:ln/>
        </p:spPr>
        <p:txBody>
          <a:bodyPr wrap="square" lIns="0" tIns="0" rIns="0" bIns="0" rtlCol="0" anchor="ctr"/>
          <a:lstStyle/>
          <a:p>
            <a:pPr indent="0" marL="0">
              <a:buNone/>
            </a:pPr>
            <a:r>
              <a:rPr lang="en-US" sz="2200" b="1" dirty="0">
                <a:solidFill>
                  <a:schemeClr val="accent1"/>
                </a:solidFill>
              </a:rPr>
              <a:t>88 seconds</a:t>
            </a:r>
            <a:endParaRPr lang="en-US" sz="2200" dirty="0"/>
          </a:p>
        </p:txBody>
      </p:sp>
      <p:sp>
        <p:nvSpPr>
          <p:cNvPr id="6" name="Value label 1"/>
          <p:cNvSpPr txBox="1"/>
          <p:nvPr/>
        </p:nvSpPr>
        <p:spPr>
          <a:xfrm>
            <a:off x="6263640" y="1901952"/>
            <a:ext cx="5166360" cy="411480"/>
          </a:xfrm>
          <a:prstGeom prst="rect">
            <a:avLst/>
          </a:prstGeom>
          <a:noFill/>
          <a:ln/>
        </p:spPr>
        <p:txBody>
          <a:bodyPr wrap="square" lIns="0" tIns="0" rIns="0" bIns="0" rtlCol="0" anchor="t"/>
          <a:lstStyle/>
          <a:p>
            <a:pPr indent="0" marL="0">
              <a:buNone/>
            </a:pPr>
            <a:r>
              <a:rPr lang="en-US" sz="1400" dirty="0">
                <a:solidFill>
                  <a:schemeClr val="tx1"/>
                </a:solidFill>
              </a:rPr>
              <a:t>of agent work per case, measured over 10 runs</a:t>
            </a:r>
            <a:endParaRPr lang="en-US" sz="1400" dirty="0"/>
          </a:p>
        </p:txBody>
      </p:sp>
      <p:sp>
        <p:nvSpPr>
          <p:cNvPr id="7" name="Value card 2"/>
          <p:cNvSpPr/>
          <p:nvPr/>
        </p:nvSpPr>
        <p:spPr>
          <a:xfrm>
            <a:off x="6035040" y="2468880"/>
            <a:ext cx="5623560" cy="1005840"/>
          </a:xfrm>
          <a:prstGeom prst="roundRect">
            <a:avLst>
              <a:gd name="adj" fmla="val 10909"/>
            </a:avLst>
          </a:prstGeom>
          <a:solidFill>
            <a:schemeClr val="bg2"/>
          </a:solidFill>
          <a:ln w="12700">
            <a:solidFill>
              <a:schemeClr val="bg2"/>
            </a:solidFill>
            <a:prstDash val="solid"/>
          </a:ln>
        </p:spPr>
      </p:sp>
      <p:sp>
        <p:nvSpPr>
          <p:cNvPr id="8" name="Value 2"/>
          <p:cNvSpPr txBox="1"/>
          <p:nvPr/>
        </p:nvSpPr>
        <p:spPr>
          <a:xfrm>
            <a:off x="6263640" y="2542032"/>
            <a:ext cx="5166360" cy="457200"/>
          </a:xfrm>
          <a:prstGeom prst="rect">
            <a:avLst/>
          </a:prstGeom>
          <a:noFill/>
          <a:ln/>
        </p:spPr>
        <p:txBody>
          <a:bodyPr wrap="square" lIns="0" tIns="0" rIns="0" bIns="0" rtlCol="0" anchor="ctr"/>
          <a:lstStyle/>
          <a:p>
            <a:pPr indent="0" marL="0">
              <a:buNone/>
            </a:pPr>
            <a:r>
              <a:rPr lang="en-US" sz="2200" b="1" dirty="0">
                <a:solidFill>
                  <a:schemeClr val="accent1"/>
                </a:solidFill>
              </a:rPr>
              <a:t>About 10 cents</a:t>
            </a:r>
            <a:endParaRPr lang="en-US" sz="2200" dirty="0"/>
          </a:p>
        </p:txBody>
      </p:sp>
      <p:sp>
        <p:nvSpPr>
          <p:cNvPr id="9" name="Value label 2"/>
          <p:cNvSpPr txBox="1"/>
          <p:nvPr/>
        </p:nvSpPr>
        <p:spPr>
          <a:xfrm>
            <a:off x="6263640" y="2999232"/>
            <a:ext cx="5166360" cy="411480"/>
          </a:xfrm>
          <a:prstGeom prst="rect">
            <a:avLst/>
          </a:prstGeom>
          <a:noFill/>
          <a:ln/>
        </p:spPr>
        <p:txBody>
          <a:bodyPr wrap="square" lIns="0" tIns="0" rIns="0" bIns="0" rtlCol="0" anchor="t"/>
          <a:lstStyle/>
          <a:p>
            <a:pPr indent="0" marL="0">
              <a:buNone/>
            </a:pPr>
            <a:r>
              <a:rPr lang="en-US" sz="1400" dirty="0">
                <a:solidFill>
                  <a:schemeClr val="tx1"/>
                </a:solidFill>
              </a:rPr>
              <a:t>of model cost per case at list prices, measured</a:t>
            </a:r>
            <a:endParaRPr lang="en-US" sz="1400" dirty="0"/>
          </a:p>
        </p:txBody>
      </p:sp>
      <p:sp>
        <p:nvSpPr>
          <p:cNvPr id="10" name="Value card 3"/>
          <p:cNvSpPr/>
          <p:nvPr/>
        </p:nvSpPr>
        <p:spPr>
          <a:xfrm>
            <a:off x="6035040" y="3566160"/>
            <a:ext cx="5623560" cy="1005840"/>
          </a:xfrm>
          <a:prstGeom prst="roundRect">
            <a:avLst>
              <a:gd name="adj" fmla="val 10909"/>
            </a:avLst>
          </a:prstGeom>
          <a:solidFill>
            <a:schemeClr val="bg2"/>
          </a:solidFill>
          <a:ln w="12700">
            <a:solidFill>
              <a:schemeClr val="bg2"/>
            </a:solidFill>
            <a:prstDash val="solid"/>
          </a:ln>
        </p:spPr>
      </p:sp>
      <p:sp>
        <p:nvSpPr>
          <p:cNvPr id="11" name="Value 3"/>
          <p:cNvSpPr txBox="1"/>
          <p:nvPr/>
        </p:nvSpPr>
        <p:spPr>
          <a:xfrm>
            <a:off x="6263640" y="3639312"/>
            <a:ext cx="5166360" cy="457200"/>
          </a:xfrm>
          <a:prstGeom prst="rect">
            <a:avLst/>
          </a:prstGeom>
          <a:noFill/>
          <a:ln/>
        </p:spPr>
        <p:txBody>
          <a:bodyPr wrap="square" lIns="0" tIns="0" rIns="0" bIns="0" rtlCol="0" anchor="ctr"/>
          <a:lstStyle/>
          <a:p>
            <a:pPr indent="0" marL="0">
              <a:buNone/>
            </a:pPr>
            <a:r>
              <a:rPr lang="en-US" sz="2200" b="1" dirty="0">
                <a:solidFill>
                  <a:schemeClr val="accent1"/>
                </a:solidFill>
              </a:rPr>
              <a:t>6 of 6 checks</a:t>
            </a:r>
            <a:endParaRPr lang="en-US" sz="2200" dirty="0"/>
          </a:p>
        </p:txBody>
      </p:sp>
      <p:sp>
        <p:nvSpPr>
          <p:cNvPr id="12" name="Value label 3"/>
          <p:cNvSpPr txBox="1"/>
          <p:nvPr/>
        </p:nvSpPr>
        <p:spPr>
          <a:xfrm>
            <a:off x="6263640" y="4096512"/>
            <a:ext cx="5166360" cy="411480"/>
          </a:xfrm>
          <a:prstGeom prst="rect">
            <a:avLst/>
          </a:prstGeom>
          <a:noFill/>
          <a:ln/>
        </p:spPr>
        <p:txBody>
          <a:bodyPr wrap="square" lIns="0" tIns="0" rIns="0" bIns="0" rtlCol="0" anchor="t"/>
          <a:lstStyle/>
          <a:p>
            <a:pPr indent="0" marL="0">
              <a:buNone/>
            </a:pPr>
            <a:r>
              <a:rPr lang="en-US" sz="1400" dirty="0">
                <a:solidFill>
                  <a:schemeClr val="tx1"/>
                </a:solidFill>
              </a:rPr>
              <a:t>on the planted problems passed in all 10 runs</a:t>
            </a:r>
            <a:endParaRPr lang="en-US" sz="1400" dirty="0"/>
          </a:p>
        </p:txBody>
      </p:sp>
      <p:sp>
        <p:nvSpPr>
          <p:cNvPr id="13" name="Value card 4"/>
          <p:cNvSpPr/>
          <p:nvPr/>
        </p:nvSpPr>
        <p:spPr>
          <a:xfrm>
            <a:off x="6035040" y="4663440"/>
            <a:ext cx="5623560" cy="1005840"/>
          </a:xfrm>
          <a:prstGeom prst="roundRect">
            <a:avLst>
              <a:gd name="adj" fmla="val 10909"/>
            </a:avLst>
          </a:prstGeom>
          <a:solidFill>
            <a:schemeClr val="bg2"/>
          </a:solidFill>
          <a:ln w="12700">
            <a:solidFill>
              <a:schemeClr val="bg2"/>
            </a:solidFill>
            <a:prstDash val="solid"/>
          </a:ln>
        </p:spPr>
      </p:sp>
      <p:sp>
        <p:nvSpPr>
          <p:cNvPr id="14" name="Value 4"/>
          <p:cNvSpPr txBox="1"/>
          <p:nvPr/>
        </p:nvSpPr>
        <p:spPr>
          <a:xfrm>
            <a:off x="6263640" y="4736592"/>
            <a:ext cx="5166360" cy="457200"/>
          </a:xfrm>
          <a:prstGeom prst="rect">
            <a:avLst/>
          </a:prstGeom>
          <a:noFill/>
          <a:ln/>
        </p:spPr>
        <p:txBody>
          <a:bodyPr wrap="square" lIns="0" tIns="0" rIns="0" bIns="0" rtlCol="0" anchor="ctr"/>
          <a:lstStyle/>
          <a:p>
            <a:pPr indent="0" marL="0">
              <a:buNone/>
            </a:pPr>
            <a:r>
              <a:rPr lang="en-US" sz="2200" b="1" dirty="0">
                <a:solidFill>
                  <a:schemeClr val="accent4"/>
                </a:solidFill>
              </a:rPr>
              <a:t>About 33 hours a month</a:t>
            </a:r>
            <a:endParaRPr lang="en-US" sz="2200" dirty="0"/>
          </a:p>
        </p:txBody>
      </p:sp>
      <p:sp>
        <p:nvSpPr>
          <p:cNvPr id="15" name="Value label 4"/>
          <p:cNvSpPr txBox="1"/>
          <p:nvPr/>
        </p:nvSpPr>
        <p:spPr>
          <a:xfrm>
            <a:off x="6263640" y="5193792"/>
            <a:ext cx="5166360" cy="411480"/>
          </a:xfrm>
          <a:prstGeom prst="rect">
            <a:avLst/>
          </a:prstGeom>
          <a:noFill/>
          <a:ln/>
        </p:spPr>
        <p:txBody>
          <a:bodyPr wrap="square" lIns="0" tIns="0" rIns="0" bIns="0" rtlCol="0" anchor="t"/>
          <a:lstStyle/>
          <a:p>
            <a:pPr indent="0" marL="0">
              <a:buNone/>
            </a:pPr>
            <a:r>
              <a:rPr lang="en-US" sz="1400" dirty="0">
                <a:solidFill>
                  <a:schemeClr val="tx1"/>
                </a:solidFill>
              </a:rPr>
              <a:t>of clinician time saved (assumed: 40 cases, 75 down to 25 min)</a:t>
            </a:r>
            <a:endParaRPr lang="en-US" sz="1400" dirty="0"/>
          </a:p>
        </p:txBody>
      </p:sp>
      <p:sp>
        <p:nvSpPr>
          <p:cNvPr id="16" name="Value footnote"/>
          <p:cNvSpPr txBox="1"/>
          <p:nvPr/>
        </p:nvSpPr>
        <p:spPr>
          <a:xfrm>
            <a:off x="548640" y="5806440"/>
            <a:ext cx="11064240" cy="502920"/>
          </a:xfrm>
          <a:prstGeom prst="rect">
            <a:avLst/>
          </a:prstGeom>
          <a:noFill/>
          <a:ln/>
        </p:spPr>
        <p:txBody>
          <a:bodyPr wrap="square" lIns="0" tIns="0" rIns="0" bIns="0" rtlCol="0" anchor="ctr"/>
          <a:lstStyle/>
          <a:p>
            <a:pPr indent="0" marL="0">
              <a:buNone/>
            </a:pPr>
            <a:r>
              <a:rPr lang="en-US" sz="1200" dirty="0">
                <a:solidFill>
                  <a:schemeClr val="accent4"/>
                </a:solidFill>
              </a:rPr>
              <a:t>Time and cost are measured on the synthetic case. Hours saved is an assumption, editable in the value model. A pilot would measure real preparation times.</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22960"/>
          </a:xfrm>
          <a:prstGeom prst="rect">
            <a:avLst/>
          </a:prstGeom>
          <a:noFill/>
          <a:ln/>
        </p:spPr>
        <p:txBody>
          <a:bodyPr wrap="square" lIns="0" tIns="0" rIns="0" bIns="0" rtlCol="0" anchor="t"/>
          <a:lstStyle/>
          <a:p>
            <a:pPr algn="l" indent="0" marL="0">
              <a:buNone/>
            </a:pPr>
            <a:r>
              <a:rPr lang="en-US" sz="3400" b="1" dirty="0">
                <a:solidFill>
                  <a:schemeClr val="tx1"/>
                </a:solidFill>
              </a:rPr>
              <a:t>Guardrails and next steps</a:t>
            </a:r>
            <a:endParaRPr lang="en-US" sz="3400" dirty="0"/>
          </a:p>
        </p:txBody>
      </p:sp>
      <p:sp>
        <p:nvSpPr>
          <p:cNvPr id="3" name="Guardrails card"/>
          <p:cNvSpPr/>
          <p:nvPr/>
        </p:nvSpPr>
        <p:spPr>
          <a:xfrm>
            <a:off x="548640" y="1463040"/>
            <a:ext cx="5394960" cy="4663440"/>
          </a:xfrm>
          <a:prstGeom prst="roundRect">
            <a:avLst>
              <a:gd name="adj" fmla="val 2353"/>
            </a:avLst>
          </a:prstGeom>
          <a:solidFill>
            <a:schemeClr val="bg2"/>
          </a:solidFill>
          <a:ln w="12700">
            <a:solidFill>
              <a:schemeClr val="bg2"/>
            </a:solidFill>
            <a:prstDash val="solid"/>
          </a:ln>
        </p:spPr>
      </p:sp>
      <p:sp>
        <p:nvSpPr>
          <p:cNvPr id="4" name="Guardrails heading"/>
          <p:cNvSpPr txBox="1"/>
          <p:nvPr/>
        </p:nvSpPr>
        <p:spPr>
          <a:xfrm>
            <a:off x="822960" y="1600200"/>
            <a:ext cx="4846320" cy="457200"/>
          </a:xfrm>
          <a:prstGeom prst="rect">
            <a:avLst/>
          </a:prstGeom>
          <a:noFill/>
          <a:ln/>
        </p:spPr>
        <p:txBody>
          <a:bodyPr wrap="square" lIns="0" tIns="0" rIns="0" bIns="0" rtlCol="0" anchor="ctr"/>
          <a:lstStyle/>
          <a:p>
            <a:pPr indent="0" marL="0">
              <a:buNone/>
            </a:pPr>
            <a:r>
              <a:rPr lang="en-US" sz="2000" b="1" dirty="0">
                <a:solidFill>
                  <a:schemeClr val="tx1"/>
                </a:solidFill>
              </a:rPr>
              <a:t>Guardrails</a:t>
            </a:r>
            <a:endParaRPr lang="en-US" sz="2000" dirty="0"/>
          </a:p>
        </p:txBody>
      </p:sp>
      <p:sp>
        <p:nvSpPr>
          <p:cNvPr id="5" name="Guardrails list"/>
          <p:cNvSpPr txBox="1"/>
          <p:nvPr/>
        </p:nvSpPr>
        <p:spPr>
          <a:xfrm>
            <a:off x="822960" y="2148840"/>
            <a:ext cx="4846320" cy="38404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 clinician approves before anything is saved</a:t>
            </a:r>
            <a:endParaRPr lang="en-US" sz="1600" dirty="0"/>
          </a:p>
          <a:p>
            <a:pPr marL="342900" indent="-342900">
              <a:spcAft>
                <a:spcPts val="800"/>
              </a:spcAft>
              <a:buSzPct val="100000"/>
              <a:buChar char="•"/>
            </a:pPr>
            <a:r>
              <a:rPr lang="en-US" sz="1600" dirty="0">
                <a:solidFill>
                  <a:schemeClr val="tx1"/>
                </a:solidFill>
              </a:rPr>
              <a:t>No write to the patient record</a:t>
            </a:r>
            <a:endParaRPr lang="en-US" sz="1600" dirty="0"/>
          </a:p>
          <a:p>
            <a:pPr marL="342900" indent="-342900">
              <a:spcAft>
                <a:spcPts val="800"/>
              </a:spcAft>
              <a:buSzPct val="100000"/>
              <a:buChar char="•"/>
            </a:pPr>
            <a:r>
              <a:rPr lang="en-US" sz="1600" dirty="0">
                <a:solidFill>
                  <a:schemeClr val="tx1"/>
                </a:solidFill>
              </a:rPr>
              <a:t>Every run and approval is logged</a:t>
            </a:r>
            <a:endParaRPr lang="en-US" sz="1600" dirty="0"/>
          </a:p>
          <a:p>
            <a:pPr marL="342900" indent="-342900">
              <a:spcAft>
                <a:spcPts val="800"/>
              </a:spcAft>
              <a:buSzPct val="100000"/>
              <a:buChar char="•"/>
            </a:pPr>
            <a:r>
              <a:rPr lang="en-US" sz="1600" dirty="0">
                <a:solidFill>
                  <a:schemeClr val="tx1"/>
                </a:solidFill>
              </a:rPr>
              <a:t>The agent sees patient data only through scoped record tools</a:t>
            </a:r>
            <a:endParaRPr lang="en-US" sz="1600" dirty="0"/>
          </a:p>
          <a:p>
            <a:pPr marL="342900" indent="-342900">
              <a:spcAft>
                <a:spcPts val="800"/>
              </a:spcAft>
              <a:buSzPct val="100000"/>
              <a:buChar char="•"/>
            </a:pPr>
            <a:r>
              <a:rPr lang="en-US" sz="1600" dirty="0">
                <a:solidFill>
                  <a:schemeClr val="tx1"/>
                </a:solidFill>
              </a:rPr>
              <a:t>Synthetic data only in this demo</a:t>
            </a:r>
            <a:endParaRPr lang="en-US" sz="1600" dirty="0"/>
          </a:p>
          <a:p>
            <a:pPr marL="342900" indent="-342900">
              <a:spcAft>
                <a:spcPts val="800"/>
              </a:spcAft>
              <a:buSzPct val="100000"/>
              <a:buChar char="•"/>
            </a:pPr>
            <a:r>
              <a:rPr lang="en-US" sz="1600" dirty="0">
                <a:solidFill>
                  <a:schemeClr val="tx1"/>
                </a:solidFill>
              </a:rPr>
              <a:t>Before real patient data: confirm the business associate agreement and data retention terms with OpenAI</a:t>
            </a:r>
            <a:endParaRPr lang="en-US" sz="1600" dirty="0"/>
          </a:p>
        </p:txBody>
      </p:sp>
      <p:sp>
        <p:nvSpPr>
          <p:cNvPr id="6" name="Next steps card"/>
          <p:cNvSpPr/>
          <p:nvPr/>
        </p:nvSpPr>
        <p:spPr>
          <a:xfrm>
            <a:off x="6263640" y="1463040"/>
            <a:ext cx="5394960" cy="4663440"/>
          </a:xfrm>
          <a:prstGeom prst="roundRect">
            <a:avLst>
              <a:gd name="adj" fmla="val 2353"/>
            </a:avLst>
          </a:prstGeom>
          <a:solidFill>
            <a:schemeClr val="bg2"/>
          </a:solidFill>
          <a:ln w="12700">
            <a:solidFill>
              <a:schemeClr val="bg2"/>
            </a:solidFill>
            <a:prstDash val="solid"/>
          </a:ln>
        </p:spPr>
      </p:sp>
      <p:sp>
        <p:nvSpPr>
          <p:cNvPr id="7" name="Next steps heading"/>
          <p:cNvSpPr txBox="1"/>
          <p:nvPr/>
        </p:nvSpPr>
        <p:spPr>
          <a:xfrm>
            <a:off x="6537960" y="160020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Next steps</a:t>
            </a:r>
            <a:endParaRPr lang="en-US" sz="2000" dirty="0"/>
          </a:p>
        </p:txBody>
      </p:sp>
      <p:sp>
        <p:nvSpPr>
          <p:cNvPr id="8" name="Next steps list"/>
          <p:cNvSpPr txBox="1"/>
          <p:nvPr/>
        </p:nvSpPr>
        <p:spPr>
          <a:xfrm>
            <a:off x="6537960" y="2148840"/>
            <a:ext cx="4846320" cy="38404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600" dirty="0">
                <a:solidFill>
                  <a:schemeClr val="tx1"/>
                </a:solidFill>
              </a:rPr>
              <a:t>Weeks 1 to 4: run on 50 de-identified past cases and compare with the tumor board notes</a:t>
            </a:r>
            <a:endParaRPr lang="en-US" sz="1600" dirty="0"/>
          </a:p>
          <a:p>
            <a:pPr marL="342900" indent="-342900">
              <a:spcAft>
                <a:spcPts val="1000"/>
              </a:spcAft>
              <a:buSzPct val="100000"/>
              <a:buFont typeface="+mj-lt"/>
              <a:buAutoNum type="arabicPeriod" startAt="2"/>
            </a:pPr>
            <a:r>
              <a:rPr lang="en-US" sz="1600" dirty="0">
                <a:solidFill>
                  <a:schemeClr val="tx1"/>
                </a:solidFill>
              </a:rPr>
              <a:t>Weeks 5 to 8: read-only connection to the record system, with oncologist feedback</a:t>
            </a:r>
            <a:endParaRPr lang="en-US" sz="1600" dirty="0"/>
          </a:p>
          <a:p>
            <a:pPr marL="342900" indent="-342900">
              <a:spcAft>
                <a:spcPts val="1000"/>
              </a:spcAft>
              <a:buSzPct val="100000"/>
              <a:buFont typeface="+mj-lt"/>
              <a:buAutoNum type="arabicPeriod" startAt="3"/>
            </a:pPr>
            <a:r>
              <a:rPr lang="en-US" sz="1600" dirty="0">
                <a:solidFill>
                  <a:schemeClr val="tx1"/>
                </a:solidFill>
              </a:rPr>
              <a:t>Measure prep time, conflicts caught and how often clinicians edit the draft</a:t>
            </a:r>
            <a:endParaRPr lang="en-US" sz="1600" dirty="0"/>
          </a:p>
          <a:p>
            <a:pPr marL="342900" indent="-342900">
              <a:spcAft>
                <a:spcPts val="1000"/>
              </a:spcAft>
              <a:buSzPct val="100000"/>
              <a:buFont typeface="+mj-lt"/>
              <a:buAutoNum type="arabicPeriod" startAt="4"/>
            </a:pPr>
            <a:r>
              <a:rPr lang="en-US" sz="1600" dirty="0">
                <a:solidFill>
                  <a:schemeClr val="tx1"/>
                </a:solidFill>
              </a:rPr>
              <a:t>Then decide whether to add more cancer types or trial matching</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Case prep">
  <a:themeElements>
    <a:clrScheme name="Case prep">
      <a:dk1>
        <a:srgbClr val="17212B"/>
      </a:dk1>
      <a:lt1>
        <a:srgbClr val="FFFFFF"/>
      </a:lt1>
      <a:dk2>
        <a:srgbClr val="0B3D3A"/>
      </a:dk2>
      <a:lt2>
        <a:srgbClr val="EEF4F2"/>
      </a:lt2>
      <a:accent1>
        <a:srgbClr val="0F766E"/>
      </a:accent1>
      <a:accent2>
        <a:srgbClr val="C2410C"/>
      </a:accent2>
      <a:accent3>
        <a:srgbClr val="534AB7"/>
      </a:accent3>
      <a:accent4>
        <a:srgbClr val="5F6B76"/>
      </a:accent4>
      <a:accent5>
        <a:srgbClr val="B45309"/>
      </a:accent5>
      <a:accent6>
        <a:srgbClr val="2563EB"/>
      </a:accent6>
      <a:hlink>
        <a:srgbClr val="0F766E"/>
      </a:hlink>
      <a:folHlink>
        <a:srgbClr val="5F6B76"/>
      </a:folHlink>
    </a:clrScheme>
    <a:fontScheme name="Case pre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Preparing breast cancer cases for tumor board</dc:title>
  <dc:subject>PptxGenJS Presentation</dc:subject>
  <dc:creator>PptxGenJS</dc:creator>
  <cp:lastModifiedBy>PptxGenJS</cp:lastModifiedBy>
  <cp:revision>1</cp:revision>
  <dcterms:created xsi:type="dcterms:W3CDTF">2026-10-28T22:33:37Z</dcterms:created>
  <dcterms:modified xsi:type="dcterms:W3CDTF">2026-10-28T22:33:37Z</dcterms:modified>
</cp:coreProperties>
</file>