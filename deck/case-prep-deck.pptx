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5d43fc9c-5deb-6cbf-e554-2141ad15d0cc}">
          <p14:sldIdLst>
            <p14:sldId id="256"/>
            <p14:sldId id="257"/>
          </p14:sldIdLst>
        </p14:section>
        <p14:section name="Demo" id="{79c89891-194e-74b4-8e9f-8f9a1f4848e9}">
          <p14:sldIdLst>
            <p14:sldId id="258"/>
          </p14:sldIdLst>
        </p14:section>
        <p14:section name="Value" id="{f93da1bb-8e4f-4673-c685-32836a8734fa}">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12B"/>
                </a:solidFill>
                <a:latin typeface="+mn-lt"/>
              </a:defRPr>
            </a:pPr>
            <a:r>
              <a:rPr sz="1400" b="0" i="0" u="none" strike="noStrike">
                <a:solidFill>
                  <a:srgbClr val="17212B"/>
                </a:solidFill>
                <a:latin typeface="+mn-lt"/>
              </a:rPr>
              <a:t>Preparation time per case, minutes (assumption)</a:t>
            </a:r>
          </a:p>
        </c:rich>
      </c:tx>
      <c:layout/>
      <c:overlay val="0"/>
    </c:title>
    <c:autoTitleDeleted val="0"/>
    <c:plotArea>
      <c:layout/>
      <c:barChart>
        <c:barDir val="col"/>
        <c:grouping val="clustered"/>
        <c:varyColors val="0"/>
        <c:ser>
          <c:idx val="0"/>
          <c:order val="0"/>
          <c:tx>
            <c:strRef>
              <c:f>Sheet1!$B$1</c:f>
              <c:strCache>
                <c:ptCount val="1"/>
                <c:pt idx="0">
                  <c:v>Minutes per case</c:v>
                </c:pt>
              </c:strCache>
            </c:strRef>
          </c:tx>
          <c:spPr>
            <a:solidFill>
              <a:srgbClr val="5F6B76"/>
            </a:solidFill>
            <a:effectLst/>
          </c:spPr>
          <c:invertIfNegative val="0"/>
          <c:dLbls>
            <c:numFmt formatCode="#,##0" sourceLinked="0"/>
            <c:txPr>
              <a:bodyPr/>
              <a:lstStyle/>
              <a:p>
                <a:pPr>
                  <a:defRPr b="0" i="0" strike="noStrike" sz="1400" u="none">
                    <a:solidFill>
                      <a:srgbClr val="17212B"/>
                    </a:solidFill>
                    <a:latin typeface="+mn-lt"/>
                  </a:defRPr>
                </a:pPr>
              </a:p>
            </c:txPr>
            <c:showLegendKey val="0"/>
            <c:showVal val="1"/>
            <c:showCatName val="0"/>
            <c:showSerName val="0"/>
            <c:showPercent val="0"/>
            <c:showBubbleSize val="0"/>
            <c:showLeaderLines val="0"/>
          </c:dLbls>
          <c:dPt>
            <c:idx val="0"/>
            <c:invertIfNegative val="0"/>
            <c:bubble3D val="0"/>
            <c:spPr>
              <a:solidFill>
                <a:srgbClr val="5F6B76"/>
              </a:solidFill>
              <a:effectLst/>
            </c:spPr>
          </c:dPt>
          <c:dPt>
            <c:idx val="1"/>
            <c:invertIfNegative val="0"/>
            <c:bubble3D val="0"/>
            <c:spPr>
              <a:solidFill>
                <a:srgbClr val="0F766E"/>
              </a:solidFill>
              <a:effectLst/>
            </c:spPr>
          </c:dPt>
          <c:cat>
            <c:multiLvlStrRef>
              <c:f>Sheet1!$A$2:$A$3</c:f>
              <c:multiLvlStrCache>
                <c:ptCount val="2"/>
                <c:lvl>
                  <c:pt idx="0">
                    <c:v>Today</c:v>
                  </c:pt>
                  <c:pt idx="1">
                    <c:v>With the assistant</c:v>
                  </c:pt>
                </c:lvl>
              </c:multiLvlStrCache>
            </c:multiLvlStrRef>
          </c:cat>
          <c:val>
            <c:numRef>
              <c:f>Sheet1!$B$2:$B$3</c:f>
              <c:numCache>
                <c:formatCode>General</c:formatCode>
                <c:ptCount val="2"/>
                <c:pt idx="0">
                  <c:v>75</c:v>
                </c:pt>
                <c:pt idx="1">
                  <c:v>25</c:v>
                </c:pt>
              </c:numCache>
            </c:numRef>
          </c:val>
        </c:ser>
        <c:dLbls>
          <c:numFmt formatCode="#,##0" sourceLinked="0"/>
          <c:txPr>
            <a:bodyPr/>
            <a:lstStyle/>
            <a:p>
              <a:pPr>
                <a:defRPr b="0" i="0" strike="noStrike" sz="1400" u="none">
                  <a:solidFill>
                    <a:srgbClr val="1721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7212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3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7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customer and the two users. The point is not that charts are hard to read. It is that the reviewer has to look in five places and compare them by eye. In this demo case the navigator's note says HER2 positive, while the signed pathology report says HER2 negative. That kind of mismatch is what we want caught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is what the team does now. Right side is what the demo does. Stress that the oncologist is still the decision maker: the tool prepares and checks, and a person approves. The product surface is the OpenAI Platform. Everything you will see is built from the Responses API and the Agents SDK, with File Search and MCP as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live run takes about two and a half minutes, so start it before you begin the walkthrough and narrate while it works. The architecture: the browser app signs in with Cognito and calls the agent running on AgentCore. The agent reads the patient record through an MCP server, searches pathway documents with File Search, and calls the model through the Responses API. Run state and the audit trail are in DynamoDB.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plain about the numbers. These are assumptions: 40 cases a month, 75 minutes of preparation today, 25 minutes of review with the assistant, and a blended 120 dollars an hour. That gives about 33 hours a month. The dollar figure is modest. The bigger reason to do this is quality: catching a mismatch between sources before the meeting. We would measure that in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safety first, then the plan. The tool prepares and checks. A clinician decides. Nothing is written to a record. For real patient data we would first confirm the contract terms and run on de-identified past cases, so we can compare the assistant against what the tumor board actually concluded.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lIns="0" tIns="0" rIns="0" bIns="0" rtlCol="0" anchor="t"/>
          <a:lstStyle/>
          <a:p>
            <a:pPr algn="l" indent="0" marL="0">
              <a:buNone/>
            </a:pPr>
            <a:r>
              <a:rPr lang="en-US" sz="3600" b="1" dirty="0">
                <a:solidFill>
                  <a:schemeClr val="bg1"/>
                </a:solidFill>
              </a:rPr>
              <a:t>Preparing breast cancer cases for tumor board</a:t>
            </a:r>
            <a:endParaRPr lang="en-US" sz="3600" dirty="0"/>
          </a:p>
        </p:txBody>
      </p:sp>
      <p:sp>
        <p:nvSpPr>
          <p:cNvPr id="3" name="Customer text"/>
          <p:cNvSpPr txBox="1"/>
          <p:nvPr/>
        </p:nvSpPr>
        <p:spPr>
          <a:xfrm>
            <a:off x="548640" y="1645920"/>
            <a:ext cx="6035040" cy="4389120"/>
          </a:xfrm>
          <a:prstGeom prst="rect">
            <a:avLst/>
          </a:prstGeom>
          <a:noFill/>
          <a:ln/>
        </p:spPr>
        <p:txBody>
          <a:bodyPr wrap="square" lIns="0" tIns="0" rIns="0" bIns="0" rtlCol="0" anchor="t"/>
          <a:lstStyle/>
          <a:p>
            <a:pPr indent="0" marL="0">
              <a:buNone/>
            </a:pPr>
            <a:r>
              <a:rPr lang="en-US" sz="1800" b="1" dirty="0">
                <a:solidFill>
                  <a:srgbClr val="9FD8CF"/>
                </a:solidFill>
              </a:rPr>
              <a:t>Customer</a:t>
            </a:r>
            <a:endParaRPr lang="en-US" sz="1800" dirty="0"/>
          </a:p>
          <a:p>
            <a:pPr indent="0" marL="0">
              <a:spcAft>
                <a:spcPts val="1400"/>
              </a:spcAft>
              <a:buNone/>
            </a:pPr>
            <a:r>
              <a:rPr lang="en-US" sz="1800" dirty="0">
                <a:solidFill>
                  <a:schemeClr val="bg1"/>
                </a:solidFill>
              </a:rPr>
              <a:t>Lakeview Cancer Institute, a fictional regional cancer center with about 500 new breast cancer cases a year.</a:t>
            </a:r>
            <a:endParaRPr lang="en-US" sz="1800" dirty="0"/>
          </a:p>
          <a:p>
            <a:pPr indent="0" marL="0">
              <a:buNone/>
            </a:pPr>
            <a:r>
              <a:rPr lang="en-US" sz="1800" b="1" dirty="0">
                <a:solidFill>
                  <a:srgbClr val="9FD8CF"/>
                </a:solidFill>
              </a:rPr>
              <a:t>Who does the work</a:t>
            </a:r>
            <a:endParaRPr lang="en-US" sz="1800" dirty="0"/>
          </a:p>
          <a:p>
            <a:pPr indent="0" marL="0">
              <a:spcAft>
                <a:spcPts val="1400"/>
              </a:spcAft>
              <a:buNone/>
            </a:pPr>
            <a:r>
              <a:rPr lang="en-US" sz="1800" dirty="0">
                <a:solidFill>
                  <a:schemeClr val="bg1"/>
                </a:solidFill>
              </a:rPr>
              <a:t>Breast medical oncologists and nurse navigators, before the weekly tumor board.</a:t>
            </a:r>
            <a:endParaRPr lang="en-US" sz="1800" dirty="0"/>
          </a:p>
          <a:p>
            <a:pPr indent="0" marL="0">
              <a:buNone/>
            </a:pPr>
            <a:r>
              <a:rPr lang="en-US" sz="1800" b="1" dirty="0">
                <a:solidFill>
                  <a:srgbClr val="9FD8CF"/>
                </a:solidFill>
              </a:rPr>
              <a:t>The problem</a:t>
            </a:r>
            <a:endParaRPr lang="en-US" sz="1800" dirty="0"/>
          </a:p>
          <a:p>
            <a:pPr indent="0" marL="0">
              <a:buNone/>
            </a:pPr>
            <a:r>
              <a:rPr lang="en-US" sz="1800" dirty="0">
                <a:solidFill>
                  <a:schemeClr val="bg1"/>
                </a:solidFill>
              </a:rPr>
              <a:t>For each case, someone reads pathology, imaging, genomics, clinic notes and the problem list in separate places, then checks the institution's treatment pathway. It is slow, and a disagreement between two sources is easy to miss.</a:t>
            </a:r>
            <a:endParaRPr lang="en-US" sz="1800" dirty="0"/>
          </a:p>
        </p:txBody>
      </p:sp>
      <p:sp>
        <p:nvSpPr>
          <p:cNvPr id="4" name="Stat card 1"/>
          <p:cNvSpPr/>
          <p:nvPr/>
        </p:nvSpPr>
        <p:spPr>
          <a:xfrm>
            <a:off x="7223760" y="1645920"/>
            <a:ext cx="4389120" cy="1325880"/>
          </a:xfrm>
          <a:prstGeom prst="roundRect">
            <a:avLst>
              <a:gd name="adj" fmla="val 8276"/>
            </a:avLst>
          </a:prstGeom>
          <a:solidFill>
            <a:schemeClr val="accent1"/>
          </a:solidFill>
          <a:ln w="12700">
            <a:solidFill>
              <a:schemeClr val="accent1"/>
            </a:solidFill>
            <a:prstDash val="solid"/>
          </a:ln>
        </p:spPr>
      </p:sp>
      <p:sp>
        <p:nvSpPr>
          <p:cNvPr id="5" name="Stat 1"/>
          <p:cNvSpPr txBox="1"/>
          <p:nvPr/>
        </p:nvSpPr>
        <p:spPr>
          <a:xfrm>
            <a:off x="7452360" y="175564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60 to 90 min</a:t>
            </a:r>
            <a:endParaRPr lang="en-US" sz="3600" dirty="0"/>
          </a:p>
        </p:txBody>
      </p:sp>
      <p:sp>
        <p:nvSpPr>
          <p:cNvPr id="6" name="Stat label 1"/>
          <p:cNvSpPr txBox="1"/>
          <p:nvPr/>
        </p:nvSpPr>
        <p:spPr>
          <a:xfrm>
            <a:off x="7452360" y="2423160"/>
            <a:ext cx="3931920" cy="411480"/>
          </a:xfrm>
          <a:prstGeom prst="rect">
            <a:avLst/>
          </a:prstGeom>
          <a:noFill/>
          <a:ln/>
        </p:spPr>
        <p:txBody>
          <a:bodyPr wrap="square" lIns="0" tIns="0" rIns="0" bIns="0" rtlCol="0" anchor="t"/>
          <a:lstStyle/>
          <a:p>
            <a:pPr indent="0" marL="0">
              <a:buNone/>
            </a:pPr>
            <a:r>
              <a:rPr lang="en-US" sz="1400" dirty="0">
                <a:solidFill>
                  <a:schemeClr val="bg1"/>
                </a:solidFill>
              </a:rPr>
              <a:t>to prepare one case today</a:t>
            </a:r>
            <a:endParaRPr lang="en-US" sz="1400" dirty="0"/>
          </a:p>
        </p:txBody>
      </p:sp>
      <p:sp>
        <p:nvSpPr>
          <p:cNvPr id="7" name="Stat card 2"/>
          <p:cNvSpPr/>
          <p:nvPr/>
        </p:nvSpPr>
        <p:spPr>
          <a:xfrm>
            <a:off x="7223760" y="3154680"/>
            <a:ext cx="4389120" cy="1325880"/>
          </a:xfrm>
          <a:prstGeom prst="roundRect">
            <a:avLst>
              <a:gd name="adj" fmla="val 8276"/>
            </a:avLst>
          </a:prstGeom>
          <a:solidFill>
            <a:schemeClr val="accent1"/>
          </a:solidFill>
          <a:ln w="12700">
            <a:solidFill>
              <a:schemeClr val="accent1"/>
            </a:solidFill>
            <a:prstDash val="solid"/>
          </a:ln>
        </p:spPr>
      </p:sp>
      <p:sp>
        <p:nvSpPr>
          <p:cNvPr id="8" name="Stat 2"/>
          <p:cNvSpPr txBox="1"/>
          <p:nvPr/>
        </p:nvSpPr>
        <p:spPr>
          <a:xfrm>
            <a:off x="7452360" y="326440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5</a:t>
            </a:r>
            <a:endParaRPr lang="en-US" sz="3600" dirty="0"/>
          </a:p>
        </p:txBody>
      </p:sp>
      <p:sp>
        <p:nvSpPr>
          <p:cNvPr id="9" name="Stat label 2"/>
          <p:cNvSpPr txBox="1"/>
          <p:nvPr/>
        </p:nvSpPr>
        <p:spPr>
          <a:xfrm>
            <a:off x="7452360" y="3931920"/>
            <a:ext cx="3931920" cy="411480"/>
          </a:xfrm>
          <a:prstGeom prst="rect">
            <a:avLst/>
          </a:prstGeom>
          <a:noFill/>
          <a:ln/>
        </p:spPr>
        <p:txBody>
          <a:bodyPr wrap="square" lIns="0" tIns="0" rIns="0" bIns="0" rtlCol="0" anchor="t"/>
          <a:lstStyle/>
          <a:p>
            <a:pPr indent="0" marL="0">
              <a:buNone/>
            </a:pPr>
            <a:r>
              <a:rPr lang="en-US" sz="1400" dirty="0">
                <a:solidFill>
                  <a:schemeClr val="bg1"/>
                </a:solidFill>
              </a:rPr>
              <a:t>places a reviewer reads for each case</a:t>
            </a:r>
            <a:endParaRPr lang="en-US" sz="1400" dirty="0"/>
          </a:p>
        </p:txBody>
      </p:sp>
      <p:sp>
        <p:nvSpPr>
          <p:cNvPr id="10" name="Stat card 3"/>
          <p:cNvSpPr/>
          <p:nvPr/>
        </p:nvSpPr>
        <p:spPr>
          <a:xfrm>
            <a:off x="7223760" y="4663440"/>
            <a:ext cx="4389120" cy="1325880"/>
          </a:xfrm>
          <a:prstGeom prst="roundRect">
            <a:avLst>
              <a:gd name="adj" fmla="val 8276"/>
            </a:avLst>
          </a:prstGeom>
          <a:solidFill>
            <a:schemeClr val="accent1"/>
          </a:solidFill>
          <a:ln w="12700">
            <a:solidFill>
              <a:schemeClr val="accent1"/>
            </a:solidFill>
            <a:prstDash val="solid"/>
          </a:ln>
        </p:spPr>
      </p:sp>
      <p:sp>
        <p:nvSpPr>
          <p:cNvPr id="11" name="Stat 3"/>
          <p:cNvSpPr txBox="1"/>
          <p:nvPr/>
        </p:nvSpPr>
        <p:spPr>
          <a:xfrm>
            <a:off x="7452360" y="477316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1</a:t>
            </a:r>
            <a:endParaRPr lang="en-US" sz="3600" dirty="0"/>
          </a:p>
        </p:txBody>
      </p:sp>
      <p:sp>
        <p:nvSpPr>
          <p:cNvPr id="12" name="Stat label 3"/>
          <p:cNvSpPr txBox="1"/>
          <p:nvPr/>
        </p:nvSpPr>
        <p:spPr>
          <a:xfrm>
            <a:off x="7452360" y="5440680"/>
            <a:ext cx="3931920" cy="411480"/>
          </a:xfrm>
          <a:prstGeom prst="rect">
            <a:avLst/>
          </a:prstGeom>
          <a:noFill/>
          <a:ln/>
        </p:spPr>
        <p:txBody>
          <a:bodyPr wrap="square" lIns="0" tIns="0" rIns="0" bIns="0" rtlCol="0" anchor="t"/>
          <a:lstStyle/>
          <a:p>
            <a:pPr indent="0" marL="0">
              <a:buNone/>
            </a:pPr>
            <a:r>
              <a:rPr lang="en-US" sz="1400" dirty="0">
                <a:solidFill>
                  <a:schemeClr val="bg1"/>
                </a:solidFill>
              </a:rPr>
              <a:t>wrong HER2 label hidden in the demo case</a:t>
            </a:r>
            <a:endParaRPr lang="en-US" sz="1400" dirty="0"/>
          </a:p>
        </p:txBody>
      </p:sp>
      <p:sp>
        <p:nvSpPr>
          <p:cNvPr id="13" name="Footnote"/>
          <p:cNvSpPr txBox="1"/>
          <p:nvPr/>
        </p:nvSpPr>
        <p:spPr>
          <a:xfrm>
            <a:off x="548640" y="6172200"/>
            <a:ext cx="10058400" cy="320040"/>
          </a:xfrm>
          <a:prstGeom prst="rect">
            <a:avLst/>
          </a:prstGeom>
          <a:noFill/>
          <a:ln/>
        </p:spPr>
        <p:txBody>
          <a:bodyPr wrap="square" lIns="0" tIns="0" rIns="0" bIns="0" rtlCol="0" anchor="ctr"/>
          <a:lstStyle/>
          <a:p>
            <a:pPr indent="0" marL="0">
              <a:buNone/>
            </a:pPr>
            <a:r>
              <a:rPr lang="en-US" sz="1200" dirty="0">
                <a:solidFill>
                  <a:srgbClr val="A9C7C2"/>
                </a:solidFill>
              </a:rPr>
              <a:t>Prep time is an assumption to confirm in a pilot. All patient data in the demo is synthetic.</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The workflow, before and after</a:t>
            </a:r>
            <a:endParaRPr lang="en-US" sz="3400" dirty="0"/>
          </a:p>
        </p:txBody>
      </p:sp>
      <p:sp>
        <p:nvSpPr>
          <p:cNvPr id="3" name="Today card"/>
          <p:cNvSpPr/>
          <p:nvPr/>
        </p:nvSpPr>
        <p:spPr>
          <a:xfrm>
            <a:off x="548640" y="1463040"/>
            <a:ext cx="5394960" cy="3749040"/>
          </a:xfrm>
          <a:prstGeom prst="roundRect">
            <a:avLst>
              <a:gd name="adj" fmla="val 2927"/>
            </a:avLst>
          </a:prstGeom>
          <a:solidFill>
            <a:schemeClr val="bg2"/>
          </a:solidFill>
          <a:ln w="12700">
            <a:solidFill>
              <a:schemeClr val="bg2"/>
            </a:solidFill>
            <a:prstDash val="solid"/>
          </a:ln>
        </p:spPr>
      </p:sp>
      <p:sp>
        <p:nvSpPr>
          <p:cNvPr id="4" name="Today heading"/>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Today</a:t>
            </a:r>
            <a:endParaRPr lang="en-US" sz="2000" dirty="0"/>
          </a:p>
        </p:txBody>
      </p:sp>
      <p:sp>
        <p:nvSpPr>
          <p:cNvPr id="5" name="Today steps"/>
          <p:cNvSpPr txBox="1"/>
          <p:nvPr/>
        </p:nvSpPr>
        <p:spPr>
          <a:xfrm>
            <a:off x="822960" y="2148840"/>
            <a:ext cx="484632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Open pathology, imaging, genomics and notes one by one</a:t>
            </a:r>
            <a:endParaRPr lang="en-US" sz="1600" dirty="0"/>
          </a:p>
          <a:p>
            <a:pPr marL="342900" indent="-342900">
              <a:spcAft>
                <a:spcPts val="1000"/>
              </a:spcAft>
              <a:buSzPct val="100000"/>
              <a:buFont typeface="+mj-lt"/>
              <a:buAutoNum type="arabicPeriod" startAt="2"/>
            </a:pPr>
            <a:r>
              <a:rPr lang="en-US" sz="1600" dirty="0">
                <a:solidFill>
                  <a:schemeClr val="tx1"/>
                </a:solidFill>
              </a:rPr>
              <a:t>Copy the key facts into a summary</a:t>
            </a:r>
            <a:endParaRPr lang="en-US" sz="1600" dirty="0"/>
          </a:p>
          <a:p>
            <a:pPr marL="342900" indent="-342900">
              <a:spcAft>
                <a:spcPts val="1000"/>
              </a:spcAft>
              <a:buSzPct val="100000"/>
              <a:buFont typeface="+mj-lt"/>
              <a:buAutoNum type="arabicPeriod" startAt="3"/>
            </a:pPr>
            <a:r>
              <a:rPr lang="en-US" sz="1600" dirty="0">
                <a:solidFill>
                  <a:schemeClr val="tx1"/>
                </a:solidFill>
              </a:rPr>
              <a:t>Look up the current treatment pathway</a:t>
            </a:r>
            <a:endParaRPr lang="en-US" sz="1600" dirty="0"/>
          </a:p>
          <a:p>
            <a:pPr marL="342900" indent="-342900">
              <a:spcAft>
                <a:spcPts val="1000"/>
              </a:spcAft>
              <a:buSzPct val="100000"/>
              <a:buFont typeface="+mj-lt"/>
              <a:buAutoNum type="arabicPeriod" startAt="4"/>
            </a:pPr>
            <a:r>
              <a:rPr lang="en-US" sz="1600" dirty="0">
                <a:solidFill>
                  <a:schemeClr val="tx1"/>
                </a:solidFill>
              </a:rPr>
              <a:t>Compare sources by eye and chase gaps</a:t>
            </a:r>
            <a:endParaRPr lang="en-US" sz="1600" dirty="0"/>
          </a:p>
          <a:p>
            <a:pPr marL="342900" indent="-342900">
              <a:spcAft>
                <a:spcPts val="1000"/>
              </a:spcAft>
              <a:buSzPct val="100000"/>
              <a:buFont typeface="+mj-lt"/>
              <a:buAutoNum type="arabicPeriod" startAt="5"/>
            </a:pPr>
            <a:r>
              <a:rPr lang="en-US" sz="1600" dirty="0">
                <a:solidFill>
                  <a:schemeClr val="tx1"/>
                </a:solidFill>
              </a:rPr>
              <a:t>Present from memory and the summary</a:t>
            </a:r>
            <a:endParaRPr lang="en-US" sz="1600" dirty="0"/>
          </a:p>
        </p:txBody>
      </p:sp>
      <p:sp>
        <p:nvSpPr>
          <p:cNvPr id="6" name="With the OpenAI API card"/>
          <p:cNvSpPr/>
          <p:nvPr/>
        </p:nvSpPr>
        <p:spPr>
          <a:xfrm>
            <a:off x="6263640" y="1463040"/>
            <a:ext cx="5394960" cy="3749040"/>
          </a:xfrm>
          <a:prstGeom prst="roundRect">
            <a:avLst>
              <a:gd name="adj" fmla="val 2927"/>
            </a:avLst>
          </a:prstGeom>
          <a:solidFill>
            <a:schemeClr val="bg2"/>
          </a:solidFill>
          <a:ln w="12700">
            <a:solidFill>
              <a:schemeClr val="bg2"/>
            </a:solidFill>
            <a:prstDash val="solid"/>
          </a:ln>
        </p:spPr>
      </p:sp>
      <p:sp>
        <p:nvSpPr>
          <p:cNvPr id="7" name="With the OpenAI API heading"/>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With the OpenAI API</a:t>
            </a:r>
            <a:endParaRPr lang="en-US" sz="2000" dirty="0"/>
          </a:p>
        </p:txBody>
      </p:sp>
      <p:sp>
        <p:nvSpPr>
          <p:cNvPr id="8" name="With the OpenAI API steps"/>
          <p:cNvSpPr txBox="1"/>
          <p:nvPr/>
        </p:nvSpPr>
        <p:spPr>
          <a:xfrm>
            <a:off x="6537960" y="2148840"/>
            <a:ext cx="484632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Oncologist asks for the case to be prepared</a:t>
            </a:r>
            <a:endParaRPr lang="en-US" sz="1600" dirty="0"/>
          </a:p>
          <a:p>
            <a:pPr marL="342900" indent="-342900">
              <a:spcAft>
                <a:spcPts val="1000"/>
              </a:spcAft>
              <a:buSzPct val="100000"/>
              <a:buFont typeface="+mj-lt"/>
              <a:buAutoNum type="arabicPeriod" startAt="2"/>
            </a:pPr>
            <a:r>
              <a:rPr lang="en-US" sz="1600" dirty="0">
                <a:solidFill>
                  <a:schemeClr val="tx1"/>
                </a:solidFill>
              </a:rPr>
              <a:t>Specialists read each record and the pathway documents</a:t>
            </a:r>
            <a:endParaRPr lang="en-US" sz="1600" dirty="0"/>
          </a:p>
          <a:p>
            <a:pPr marL="342900" indent="-342900">
              <a:spcAft>
                <a:spcPts val="1000"/>
              </a:spcAft>
              <a:buSzPct val="100000"/>
              <a:buFont typeface="+mj-lt"/>
              <a:buAutoNum type="arabicPeriod" startAt="3"/>
            </a:pPr>
            <a:r>
              <a:rPr lang="en-US" sz="1600" dirty="0">
                <a:solidFill>
                  <a:schemeClr val="tx1"/>
                </a:solidFill>
              </a:rPr>
              <a:t>A draft lists facts, pathway text and inference separately</a:t>
            </a:r>
            <a:endParaRPr lang="en-US" sz="1600" dirty="0"/>
          </a:p>
          <a:p>
            <a:pPr marL="342900" indent="-342900">
              <a:spcAft>
                <a:spcPts val="1000"/>
              </a:spcAft>
              <a:buSzPct val="100000"/>
              <a:buFont typeface="+mj-lt"/>
              <a:buAutoNum type="arabicPeriod" startAt="4"/>
            </a:pPr>
            <a:r>
              <a:rPr lang="en-US" sz="1600" dirty="0">
                <a:solidFill>
                  <a:schemeClr val="tx1"/>
                </a:solidFill>
              </a:rPr>
              <a:t>A second check flags conflicts and unsupported claims</a:t>
            </a:r>
            <a:endParaRPr lang="en-US" sz="1600" dirty="0"/>
          </a:p>
          <a:p>
            <a:pPr marL="342900" indent="-342900">
              <a:spcAft>
                <a:spcPts val="1000"/>
              </a:spcAft>
              <a:buSzPct val="100000"/>
              <a:buFont typeface="+mj-lt"/>
              <a:buAutoNum type="arabicPeriod" startAt="5"/>
            </a:pPr>
            <a:r>
              <a:rPr lang="en-US" sz="1600" dirty="0">
                <a:solidFill>
                  <a:schemeClr val="tx1"/>
                </a:solidFill>
              </a:rPr>
              <a:t>The oncologist reviews and approves before anything is saved</a:t>
            </a:r>
            <a:endParaRPr lang="en-US" sz="1600" dirty="0"/>
          </a:p>
        </p:txBody>
      </p:sp>
      <p:sp>
        <p:nvSpPr>
          <p:cNvPr id="9" name="Surface banner"/>
          <p:cNvSpPr/>
          <p:nvPr/>
        </p:nvSpPr>
        <p:spPr>
          <a:xfrm>
            <a:off x="548640" y="5440680"/>
            <a:ext cx="11109960" cy="868680"/>
          </a:xfrm>
          <a:prstGeom prst="roundRect">
            <a:avLst>
              <a:gd name="adj" fmla="val 12632"/>
            </a:avLst>
          </a:prstGeom>
          <a:solidFill>
            <a:schemeClr val="accent3"/>
          </a:solidFill>
          <a:ln w="12700">
            <a:solidFill>
              <a:schemeClr val="accent3"/>
            </a:solidFill>
            <a:prstDash val="solid"/>
          </a:ln>
        </p:spPr>
      </p:sp>
      <p:sp>
        <p:nvSpPr>
          <p:cNvPr id="10" name="Surface text"/>
          <p:cNvSpPr txBox="1"/>
          <p:nvPr/>
        </p:nvSpPr>
        <p:spPr>
          <a:xfrm>
            <a:off x="777240" y="5486400"/>
            <a:ext cx="10652760" cy="777240"/>
          </a:xfrm>
          <a:prstGeom prst="rect">
            <a:avLst/>
          </a:prstGeom>
          <a:noFill/>
          <a:ln/>
        </p:spPr>
        <p:txBody>
          <a:bodyPr wrap="square" lIns="0" tIns="0" rIns="0" bIns="0" rtlCol="0" anchor="ctr"/>
          <a:lstStyle/>
          <a:p>
            <a:pPr indent="0" marL="0">
              <a:buNone/>
            </a:pPr>
            <a:r>
              <a:rPr lang="en-US" sz="1600" b="1" dirty="0">
                <a:solidFill>
                  <a:schemeClr val="bg1"/>
                </a:solidFill>
              </a:rPr>
              <a:t>Product surface: OpenAI Platform and APIs. </a:t>
            </a:r>
            <a:pPr indent="0" marL="0">
              <a:buNone/>
            </a:pPr>
            <a:r>
              <a:rPr lang="en-US" sz="1600" dirty="0">
                <a:solidFill>
                  <a:schemeClr val="bg1"/>
                </a:solidFill>
              </a:rPr>
              <a:t>Responses API for the model calls, Agents SDK for the manager and specialists, File Search for pathway documents, MCP for the patient record, tracing for review.</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What the demo shows</a:t>
            </a:r>
            <a:endParaRPr lang="en-US" sz="3400" dirty="0"/>
          </a:p>
        </p:txBody>
      </p:sp>
      <p:pic>
        <p:nvPicPr>
          <p:cNvPr id="3" name="Architecture diagram" descr="Architecture: React app on Amplify, Cognito, AgentCore Runtime, MCP server and DynamoDB in the customer AWS account, calling the OpenAI Platform and public APIs">    </p:cNvPr>
          <p:cNvPicPr>
            <a:picLocks noChangeAspect="1"/>
          </p:cNvPicPr>
          <p:nvPr/>
        </p:nvPicPr>
        <p:blipFill>
          <a:blip r:embed="rId1"/>
          <a:stretch>
            <a:fillRect/>
          </a:stretch>
        </p:blipFill>
        <p:spPr>
          <a:xfrm>
            <a:off x="548640" y="1417320"/>
            <a:ext cx="6766560" cy="3977640"/>
          </a:xfrm>
          <a:prstGeom prst="rect">
            <a:avLst/>
          </a:prstGeom>
        </p:spPr>
      </p:pic>
      <p:sp>
        <p:nvSpPr>
          <p:cNvPr id="4" name="Diagram caption"/>
          <p:cNvSpPr txBox="1"/>
          <p:nvPr/>
        </p:nvSpPr>
        <p:spPr>
          <a:xfrm>
            <a:off x="548640" y="5532120"/>
            <a:ext cx="6766560" cy="640080"/>
          </a:xfrm>
          <a:prstGeom prst="rect">
            <a:avLst/>
          </a:prstGeom>
          <a:noFill/>
          <a:ln/>
        </p:spPr>
        <p:txBody>
          <a:bodyPr wrap="square" lIns="0" tIns="0" rIns="0" bIns="0" rtlCol="0" anchor="t"/>
          <a:lstStyle/>
          <a:p>
            <a:pPr indent="0" marL="0">
              <a:buNone/>
            </a:pPr>
            <a:r>
              <a:rPr lang="en-US" sz="1400" dirty="0">
                <a:solidFill>
                  <a:schemeClr val="accent4"/>
                </a:solidFill>
              </a:rPr>
              <a:t>The agents run in the customer's AWS account. Only model calls and pathway search go to OpenAI.</a:t>
            </a:r>
            <a:endParaRPr lang="en-US" sz="1400" dirty="0"/>
          </a:p>
        </p:txBody>
      </p:sp>
      <p:sp>
        <p:nvSpPr>
          <p:cNvPr id="5" name="Run of show card"/>
          <p:cNvSpPr/>
          <p:nvPr/>
        </p:nvSpPr>
        <p:spPr>
          <a:xfrm>
            <a:off x="7589520" y="1417320"/>
            <a:ext cx="4069080" cy="4754880"/>
          </a:xfrm>
          <a:prstGeom prst="roundRect">
            <a:avLst>
              <a:gd name="adj" fmla="val 2697"/>
            </a:avLst>
          </a:prstGeom>
          <a:solidFill>
            <a:schemeClr val="bg2"/>
          </a:solidFill>
          <a:ln w="12700">
            <a:solidFill>
              <a:schemeClr val="bg2"/>
            </a:solidFill>
            <a:prstDash val="solid"/>
          </a:ln>
        </p:spPr>
      </p:sp>
      <p:sp>
        <p:nvSpPr>
          <p:cNvPr id="6" name="Run of show heading"/>
          <p:cNvSpPr txBox="1"/>
          <p:nvPr/>
        </p:nvSpPr>
        <p:spPr>
          <a:xfrm>
            <a:off x="7818120" y="1554480"/>
            <a:ext cx="3657600" cy="411480"/>
          </a:xfrm>
          <a:prstGeom prst="rect">
            <a:avLst/>
          </a:prstGeom>
          <a:noFill/>
          <a:ln/>
        </p:spPr>
        <p:txBody>
          <a:bodyPr wrap="square" lIns="0" tIns="0" rIns="0" bIns="0" rtlCol="0" anchor="ctr"/>
          <a:lstStyle/>
          <a:p>
            <a:pPr indent="0" marL="0">
              <a:buNone/>
            </a:pPr>
            <a:r>
              <a:rPr lang="en-US" sz="1800" b="1" dirty="0">
                <a:solidFill>
                  <a:schemeClr val="tx1"/>
                </a:solidFill>
              </a:rPr>
              <a:t>Five-minute run of show</a:t>
            </a:r>
            <a:endParaRPr lang="en-US" sz="1800" dirty="0"/>
          </a:p>
        </p:txBody>
      </p:sp>
      <p:sp>
        <p:nvSpPr>
          <p:cNvPr id="7" name="Time 1"/>
          <p:cNvSpPr txBox="1"/>
          <p:nvPr/>
        </p:nvSpPr>
        <p:spPr>
          <a:xfrm>
            <a:off x="7818120" y="2103120"/>
            <a:ext cx="640080" cy="548640"/>
          </a:xfrm>
          <a:prstGeom prst="rect">
            <a:avLst/>
          </a:prstGeom>
          <a:noFill/>
          <a:ln/>
        </p:spPr>
        <p:txBody>
          <a:bodyPr wrap="square" lIns="0" tIns="0" rIns="0" bIns="0" rtlCol="0" anchor="t"/>
          <a:lstStyle/>
          <a:p>
            <a:pPr indent="0" marL="0">
              <a:buNone/>
            </a:pPr>
            <a:r>
              <a:rPr lang="en-US" sz="1400" b="1" dirty="0">
                <a:solidFill>
                  <a:schemeClr val="accent1"/>
                </a:solidFill>
              </a:rPr>
              <a:t>0:00</a:t>
            </a:r>
            <a:endParaRPr lang="en-US" sz="1400" dirty="0"/>
          </a:p>
        </p:txBody>
      </p:sp>
      <p:sp>
        <p:nvSpPr>
          <p:cNvPr id="8" name="Step 1"/>
          <p:cNvSpPr txBox="1"/>
          <p:nvPr/>
        </p:nvSpPr>
        <p:spPr>
          <a:xfrm>
            <a:off x="8503920" y="2103120"/>
            <a:ext cx="3017520" cy="548640"/>
          </a:xfrm>
          <a:prstGeom prst="rect">
            <a:avLst/>
          </a:prstGeom>
          <a:noFill/>
          <a:ln/>
        </p:spPr>
        <p:txBody>
          <a:bodyPr wrap="square" lIns="0" tIns="0" rIns="0" bIns="0" rtlCol="0" anchor="t"/>
          <a:lstStyle/>
          <a:p>
            <a:pPr indent="0" marL="0">
              <a:buNone/>
            </a:pPr>
            <a:r>
              <a:rPr lang="en-US" sz="1400" dirty="0">
                <a:solidFill>
                  <a:schemeClr val="tx1"/>
                </a:solidFill>
              </a:rPr>
              <a:t>The case and the oncologist's request</a:t>
            </a:r>
            <a:endParaRPr lang="en-US" sz="1400" dirty="0"/>
          </a:p>
        </p:txBody>
      </p:sp>
      <p:sp>
        <p:nvSpPr>
          <p:cNvPr id="9" name="Time 2"/>
          <p:cNvSpPr txBox="1"/>
          <p:nvPr/>
        </p:nvSpPr>
        <p:spPr>
          <a:xfrm>
            <a:off x="7818120" y="2743200"/>
            <a:ext cx="640080" cy="548640"/>
          </a:xfrm>
          <a:prstGeom prst="rect">
            <a:avLst/>
          </a:prstGeom>
          <a:noFill/>
          <a:ln/>
        </p:spPr>
        <p:txBody>
          <a:bodyPr wrap="square" lIns="0" tIns="0" rIns="0" bIns="0" rtlCol="0" anchor="t"/>
          <a:lstStyle/>
          <a:p>
            <a:pPr indent="0" marL="0">
              <a:buNone/>
            </a:pPr>
            <a:r>
              <a:rPr lang="en-US" sz="1400" b="1" dirty="0">
                <a:solidFill>
                  <a:schemeClr val="accent1"/>
                </a:solidFill>
              </a:rPr>
              <a:t>0:30</a:t>
            </a:r>
            <a:endParaRPr lang="en-US" sz="1400" dirty="0"/>
          </a:p>
        </p:txBody>
      </p:sp>
      <p:sp>
        <p:nvSpPr>
          <p:cNvPr id="10" name="Step 2"/>
          <p:cNvSpPr txBox="1"/>
          <p:nvPr/>
        </p:nvSpPr>
        <p:spPr>
          <a:xfrm>
            <a:off x="8503920" y="2743200"/>
            <a:ext cx="3017520" cy="548640"/>
          </a:xfrm>
          <a:prstGeom prst="rect">
            <a:avLst/>
          </a:prstGeom>
          <a:noFill/>
          <a:ln/>
        </p:spPr>
        <p:txBody>
          <a:bodyPr wrap="square" lIns="0" tIns="0" rIns="0" bIns="0" rtlCol="0" anchor="t"/>
          <a:lstStyle/>
          <a:p>
            <a:pPr indent="0" marL="0">
              <a:buNone/>
            </a:pPr>
            <a:r>
              <a:rPr lang="en-US" sz="1400" dirty="0">
                <a:solidFill>
                  <a:schemeClr val="tx1"/>
                </a:solidFill>
              </a:rPr>
              <a:t>Specialists read the record through MCP and search the pathways</a:t>
            </a:r>
            <a:endParaRPr lang="en-US" sz="1400" dirty="0"/>
          </a:p>
        </p:txBody>
      </p:sp>
      <p:sp>
        <p:nvSpPr>
          <p:cNvPr id="11" name="Time 3"/>
          <p:cNvSpPr txBox="1"/>
          <p:nvPr/>
        </p:nvSpPr>
        <p:spPr>
          <a:xfrm>
            <a:off x="7818120" y="3383280"/>
            <a:ext cx="640080" cy="548640"/>
          </a:xfrm>
          <a:prstGeom prst="rect">
            <a:avLst/>
          </a:prstGeom>
          <a:noFill/>
          <a:ln/>
        </p:spPr>
        <p:txBody>
          <a:bodyPr wrap="square" lIns="0" tIns="0" rIns="0" bIns="0" rtlCol="0" anchor="t"/>
          <a:lstStyle/>
          <a:p>
            <a:pPr indent="0" marL="0">
              <a:buNone/>
            </a:pPr>
            <a:r>
              <a:rPr lang="en-US" sz="1400" b="1" dirty="0">
                <a:solidFill>
                  <a:schemeClr val="accent1"/>
                </a:solidFill>
              </a:rPr>
              <a:t>1:30</a:t>
            </a:r>
            <a:endParaRPr lang="en-US" sz="1400" dirty="0"/>
          </a:p>
        </p:txBody>
      </p:sp>
      <p:sp>
        <p:nvSpPr>
          <p:cNvPr id="12" name="Step 3"/>
          <p:cNvSpPr txBox="1"/>
          <p:nvPr/>
        </p:nvSpPr>
        <p:spPr>
          <a:xfrm>
            <a:off x="8503920" y="3383280"/>
            <a:ext cx="3017520" cy="548640"/>
          </a:xfrm>
          <a:prstGeom prst="rect">
            <a:avLst/>
          </a:prstGeom>
          <a:noFill/>
          <a:ln/>
        </p:spPr>
        <p:txBody>
          <a:bodyPr wrap="square" lIns="0" tIns="0" rIns="0" bIns="0" rtlCol="0" anchor="t"/>
          <a:lstStyle/>
          <a:p>
            <a:pPr indent="0" marL="0">
              <a:buNone/>
            </a:pPr>
            <a:r>
              <a:rPr lang="en-US" sz="1400" dirty="0">
                <a:solidFill>
                  <a:schemeClr val="tx1"/>
                </a:solidFill>
              </a:rPr>
              <a:t>The draft keeps patient facts, pathway text and inference apart</a:t>
            </a:r>
            <a:endParaRPr lang="en-US" sz="1400" dirty="0"/>
          </a:p>
        </p:txBody>
      </p:sp>
      <p:sp>
        <p:nvSpPr>
          <p:cNvPr id="13" name="Time 4"/>
          <p:cNvSpPr txBox="1"/>
          <p:nvPr/>
        </p:nvSpPr>
        <p:spPr>
          <a:xfrm>
            <a:off x="7818120" y="4023360"/>
            <a:ext cx="640080" cy="548640"/>
          </a:xfrm>
          <a:prstGeom prst="rect">
            <a:avLst/>
          </a:prstGeom>
          <a:noFill/>
          <a:ln/>
        </p:spPr>
        <p:txBody>
          <a:bodyPr wrap="square" lIns="0" tIns="0" rIns="0" bIns="0" rtlCol="0" anchor="t"/>
          <a:lstStyle/>
          <a:p>
            <a:pPr indent="0" marL="0">
              <a:buNone/>
            </a:pPr>
            <a:r>
              <a:rPr lang="en-US" sz="1400" b="1" dirty="0">
                <a:solidFill>
                  <a:schemeClr val="accent1"/>
                </a:solidFill>
              </a:rPr>
              <a:t>2:30</a:t>
            </a:r>
            <a:endParaRPr lang="en-US" sz="1400" dirty="0"/>
          </a:p>
        </p:txBody>
      </p:sp>
      <p:sp>
        <p:nvSpPr>
          <p:cNvPr id="14" name="Step 4"/>
          <p:cNvSpPr txBox="1"/>
          <p:nvPr/>
        </p:nvSpPr>
        <p:spPr>
          <a:xfrm>
            <a:off x="8503920" y="4023360"/>
            <a:ext cx="3017520" cy="548640"/>
          </a:xfrm>
          <a:prstGeom prst="rect">
            <a:avLst/>
          </a:prstGeom>
          <a:noFill/>
          <a:ln/>
        </p:spPr>
        <p:txBody>
          <a:bodyPr wrap="square" lIns="0" tIns="0" rIns="0" bIns="0" rtlCol="0" anchor="t"/>
          <a:lstStyle/>
          <a:p>
            <a:pPr indent="0" marL="0">
              <a:buNone/>
            </a:pPr>
            <a:r>
              <a:rPr lang="en-US" sz="1400" dirty="0">
                <a:solidFill>
                  <a:schemeClr val="tx1"/>
                </a:solidFill>
              </a:rPr>
              <a:t>The verifier flags problems; the HER2 conflict is shown</a:t>
            </a:r>
            <a:endParaRPr lang="en-US" sz="1400" dirty="0"/>
          </a:p>
        </p:txBody>
      </p:sp>
      <p:sp>
        <p:nvSpPr>
          <p:cNvPr id="15" name="Time 5"/>
          <p:cNvSpPr txBox="1"/>
          <p:nvPr/>
        </p:nvSpPr>
        <p:spPr>
          <a:xfrm>
            <a:off x="7818120" y="4663440"/>
            <a:ext cx="640080" cy="548640"/>
          </a:xfrm>
          <a:prstGeom prst="rect">
            <a:avLst/>
          </a:prstGeom>
          <a:noFill/>
          <a:ln/>
        </p:spPr>
        <p:txBody>
          <a:bodyPr wrap="square" lIns="0" tIns="0" rIns="0" bIns="0" rtlCol="0" anchor="t"/>
          <a:lstStyle/>
          <a:p>
            <a:pPr indent="0" marL="0">
              <a:buNone/>
            </a:pPr>
            <a:r>
              <a:rPr lang="en-US" sz="1400" b="1" dirty="0">
                <a:solidFill>
                  <a:schemeClr val="accent1"/>
                </a:solidFill>
              </a:rPr>
              <a:t>3:30</a:t>
            </a:r>
            <a:endParaRPr lang="en-US" sz="1400" dirty="0"/>
          </a:p>
        </p:txBody>
      </p:sp>
      <p:sp>
        <p:nvSpPr>
          <p:cNvPr id="16" name="Step 5"/>
          <p:cNvSpPr txBox="1"/>
          <p:nvPr/>
        </p:nvSpPr>
        <p:spPr>
          <a:xfrm>
            <a:off x="8503920" y="4663440"/>
            <a:ext cx="3017520" cy="548640"/>
          </a:xfrm>
          <a:prstGeom prst="rect">
            <a:avLst/>
          </a:prstGeom>
          <a:noFill/>
          <a:ln/>
        </p:spPr>
        <p:txBody>
          <a:bodyPr wrap="square" lIns="0" tIns="0" rIns="0" bIns="0" rtlCol="0" anchor="t"/>
          <a:lstStyle/>
          <a:p>
            <a:pPr indent="0" marL="0">
              <a:buNone/>
            </a:pPr>
            <a:r>
              <a:rPr lang="en-US" sz="1400" dirty="0">
                <a:solidFill>
                  <a:schemeClr val="tx1"/>
                </a:solidFill>
              </a:rPr>
              <a:t>The oncologist reviews and approves</a:t>
            </a:r>
            <a:endParaRPr lang="en-US" sz="1400" dirty="0"/>
          </a:p>
        </p:txBody>
      </p:sp>
      <p:sp>
        <p:nvSpPr>
          <p:cNvPr id="17" name="Time 6"/>
          <p:cNvSpPr txBox="1"/>
          <p:nvPr/>
        </p:nvSpPr>
        <p:spPr>
          <a:xfrm>
            <a:off x="7818120" y="5303520"/>
            <a:ext cx="640080" cy="548640"/>
          </a:xfrm>
          <a:prstGeom prst="rect">
            <a:avLst/>
          </a:prstGeom>
          <a:noFill/>
          <a:ln/>
        </p:spPr>
        <p:txBody>
          <a:bodyPr wrap="square" lIns="0" tIns="0" rIns="0" bIns="0" rtlCol="0" anchor="t"/>
          <a:lstStyle/>
          <a:p>
            <a:pPr indent="0" marL="0">
              <a:buNone/>
            </a:pPr>
            <a:r>
              <a:rPr lang="en-US" sz="1400" b="1" dirty="0">
                <a:solidFill>
                  <a:schemeClr val="accent1"/>
                </a:solidFill>
              </a:rPr>
              <a:t>4:15</a:t>
            </a:r>
            <a:endParaRPr lang="en-US" sz="1400" dirty="0"/>
          </a:p>
        </p:txBody>
      </p:sp>
      <p:sp>
        <p:nvSpPr>
          <p:cNvPr id="18" name="Step 6"/>
          <p:cNvSpPr txBox="1"/>
          <p:nvPr/>
        </p:nvSpPr>
        <p:spPr>
          <a:xfrm>
            <a:off x="8503920" y="5303520"/>
            <a:ext cx="3017520" cy="548640"/>
          </a:xfrm>
          <a:prstGeom prst="rect">
            <a:avLst/>
          </a:prstGeom>
          <a:noFill/>
          <a:ln/>
        </p:spPr>
        <p:txBody>
          <a:bodyPr wrap="square" lIns="0" tIns="0" rIns="0" bIns="0" rtlCol="0" anchor="t"/>
          <a:lstStyle/>
          <a:p>
            <a:pPr indent="0" marL="0">
              <a:buNone/>
            </a:pPr>
            <a:r>
              <a:rPr lang="en-US" sz="1400" dirty="0">
                <a:solidFill>
                  <a:schemeClr val="tx1"/>
                </a:solidFill>
              </a:rPr>
              <a:t>Value and next steps</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Expected value</a:t>
            </a:r>
            <a:endParaRPr lang="en-US" sz="3400" dirty="0"/>
          </a:p>
        </p:txBody>
      </p:sp>
      <p:graphicFrame>
        <p:nvGraphicFramePr>
          <p:cNvPr id="3" name="Chart 0" descr=""/>
          <p:cNvGraphicFramePr/>
          <p:nvPr/>
        </p:nvGraphicFramePr>
        <p:xfrm>
          <a:off x="548640" y="146304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4" name="Value card 1"/>
          <p:cNvSpPr/>
          <p:nvPr/>
        </p:nvSpPr>
        <p:spPr>
          <a:xfrm>
            <a:off x="6583680" y="1463040"/>
            <a:ext cx="5074920" cy="1280160"/>
          </a:xfrm>
          <a:prstGeom prst="roundRect">
            <a:avLst>
              <a:gd name="adj" fmla="val 8571"/>
            </a:avLst>
          </a:prstGeom>
          <a:solidFill>
            <a:schemeClr val="bg2"/>
          </a:solidFill>
          <a:ln w="12700">
            <a:solidFill>
              <a:schemeClr val="bg2"/>
            </a:solidFill>
            <a:prstDash val="solid"/>
          </a:ln>
        </p:spPr>
      </p:sp>
      <p:sp>
        <p:nvSpPr>
          <p:cNvPr id="5" name="Value 1"/>
          <p:cNvSpPr txBox="1"/>
          <p:nvPr/>
        </p:nvSpPr>
        <p:spPr>
          <a:xfrm>
            <a:off x="6812280" y="1572768"/>
            <a:ext cx="4617720" cy="502920"/>
          </a:xfrm>
          <a:prstGeom prst="rect">
            <a:avLst/>
          </a:prstGeom>
          <a:noFill/>
          <a:ln/>
        </p:spPr>
        <p:txBody>
          <a:bodyPr wrap="square" lIns="0" tIns="0" rIns="0" bIns="0" rtlCol="0" anchor="ctr"/>
          <a:lstStyle/>
          <a:p>
            <a:pPr indent="0" marL="0">
              <a:buNone/>
            </a:pPr>
            <a:r>
              <a:rPr lang="en-US" sz="2400" b="1" dirty="0">
                <a:solidFill>
                  <a:schemeClr val="accent1"/>
                </a:solidFill>
              </a:rPr>
              <a:t>About 33 hours a month</a:t>
            </a:r>
            <a:endParaRPr lang="en-US" sz="2400" dirty="0"/>
          </a:p>
        </p:txBody>
      </p:sp>
      <p:sp>
        <p:nvSpPr>
          <p:cNvPr id="6" name="Value label 1"/>
          <p:cNvSpPr txBox="1"/>
          <p:nvPr/>
        </p:nvSpPr>
        <p:spPr>
          <a:xfrm>
            <a:off x="6812280" y="2103120"/>
            <a:ext cx="4617720" cy="548640"/>
          </a:xfrm>
          <a:prstGeom prst="rect">
            <a:avLst/>
          </a:prstGeom>
          <a:noFill/>
          <a:ln/>
        </p:spPr>
        <p:txBody>
          <a:bodyPr wrap="square" lIns="0" tIns="0" rIns="0" bIns="0" rtlCol="0" anchor="t"/>
          <a:lstStyle/>
          <a:p>
            <a:pPr indent="0" marL="0">
              <a:buNone/>
            </a:pPr>
            <a:r>
              <a:rPr lang="en-US" sz="1400" dirty="0">
                <a:solidFill>
                  <a:schemeClr val="tx1"/>
                </a:solidFill>
              </a:rPr>
              <a:t>of clinician and navigator time, at 40 cases a month</a:t>
            </a:r>
            <a:endParaRPr lang="en-US" sz="1400" dirty="0"/>
          </a:p>
        </p:txBody>
      </p:sp>
      <p:sp>
        <p:nvSpPr>
          <p:cNvPr id="7" name="Value card 2"/>
          <p:cNvSpPr/>
          <p:nvPr/>
        </p:nvSpPr>
        <p:spPr>
          <a:xfrm>
            <a:off x="6583680" y="2880360"/>
            <a:ext cx="5074920" cy="1280160"/>
          </a:xfrm>
          <a:prstGeom prst="roundRect">
            <a:avLst>
              <a:gd name="adj" fmla="val 8571"/>
            </a:avLst>
          </a:prstGeom>
          <a:solidFill>
            <a:schemeClr val="bg2"/>
          </a:solidFill>
          <a:ln w="12700">
            <a:solidFill>
              <a:schemeClr val="bg2"/>
            </a:solidFill>
            <a:prstDash val="solid"/>
          </a:ln>
        </p:spPr>
      </p:sp>
      <p:sp>
        <p:nvSpPr>
          <p:cNvPr id="8" name="Value 2"/>
          <p:cNvSpPr txBox="1"/>
          <p:nvPr/>
        </p:nvSpPr>
        <p:spPr>
          <a:xfrm>
            <a:off x="6812280" y="2990088"/>
            <a:ext cx="4617720" cy="502920"/>
          </a:xfrm>
          <a:prstGeom prst="rect">
            <a:avLst/>
          </a:prstGeom>
          <a:noFill/>
          <a:ln/>
        </p:spPr>
        <p:txBody>
          <a:bodyPr wrap="square" lIns="0" tIns="0" rIns="0" bIns="0" rtlCol="0" anchor="ctr"/>
          <a:lstStyle/>
          <a:p>
            <a:pPr indent="0" marL="0">
              <a:buNone/>
            </a:pPr>
            <a:r>
              <a:rPr lang="en-US" sz="2400" b="1" dirty="0">
                <a:solidFill>
                  <a:schemeClr val="accent1"/>
                </a:solidFill>
              </a:rPr>
              <a:t>About $4,000 a month</a:t>
            </a:r>
            <a:endParaRPr lang="en-US" sz="2400" dirty="0"/>
          </a:p>
        </p:txBody>
      </p:sp>
      <p:sp>
        <p:nvSpPr>
          <p:cNvPr id="9" name="Value label 2"/>
          <p:cNvSpPr txBox="1"/>
          <p:nvPr/>
        </p:nvSpPr>
        <p:spPr>
          <a:xfrm>
            <a:off x="6812280" y="3520440"/>
            <a:ext cx="4617720" cy="548640"/>
          </a:xfrm>
          <a:prstGeom prst="rect">
            <a:avLst/>
          </a:prstGeom>
          <a:noFill/>
          <a:ln/>
        </p:spPr>
        <p:txBody>
          <a:bodyPr wrap="square" lIns="0" tIns="0" rIns="0" bIns="0" rtlCol="0" anchor="t"/>
          <a:lstStyle/>
          <a:p>
            <a:pPr indent="0" marL="0">
              <a:buNone/>
            </a:pPr>
            <a:r>
              <a:rPr lang="en-US" sz="1400" dirty="0">
                <a:solidFill>
                  <a:schemeClr val="tx1"/>
                </a:solidFill>
              </a:rPr>
              <a:t>at a blended $120 an hour. Small next to the other benefits</a:t>
            </a:r>
            <a:endParaRPr lang="en-US" sz="1400" dirty="0"/>
          </a:p>
        </p:txBody>
      </p:sp>
      <p:sp>
        <p:nvSpPr>
          <p:cNvPr id="10" name="Value card 3"/>
          <p:cNvSpPr/>
          <p:nvPr/>
        </p:nvSpPr>
        <p:spPr>
          <a:xfrm>
            <a:off x="6583680" y="4297680"/>
            <a:ext cx="5074920" cy="1280160"/>
          </a:xfrm>
          <a:prstGeom prst="roundRect">
            <a:avLst>
              <a:gd name="adj" fmla="val 8571"/>
            </a:avLst>
          </a:prstGeom>
          <a:solidFill>
            <a:schemeClr val="bg2"/>
          </a:solidFill>
          <a:ln w="12700">
            <a:solidFill>
              <a:schemeClr val="bg2"/>
            </a:solidFill>
            <a:prstDash val="solid"/>
          </a:ln>
        </p:spPr>
      </p:sp>
      <p:sp>
        <p:nvSpPr>
          <p:cNvPr id="11" name="Value 3"/>
          <p:cNvSpPr txBox="1"/>
          <p:nvPr/>
        </p:nvSpPr>
        <p:spPr>
          <a:xfrm>
            <a:off x="6812280" y="4407408"/>
            <a:ext cx="4617720" cy="502920"/>
          </a:xfrm>
          <a:prstGeom prst="rect">
            <a:avLst/>
          </a:prstGeom>
          <a:noFill/>
          <a:ln/>
        </p:spPr>
        <p:txBody>
          <a:bodyPr wrap="square" lIns="0" tIns="0" rIns="0" bIns="0" rtlCol="0" anchor="ctr"/>
          <a:lstStyle/>
          <a:p>
            <a:pPr indent="0" marL="0">
              <a:buNone/>
            </a:pPr>
            <a:r>
              <a:rPr lang="en-US" sz="2400" b="1" dirty="0">
                <a:solidFill>
                  <a:schemeClr val="accent1"/>
                </a:solidFill>
              </a:rPr>
              <a:t>Fewer missed conflicts</a:t>
            </a:r>
            <a:endParaRPr lang="en-US" sz="2400" dirty="0"/>
          </a:p>
        </p:txBody>
      </p:sp>
      <p:sp>
        <p:nvSpPr>
          <p:cNvPr id="12" name="Value label 3"/>
          <p:cNvSpPr txBox="1"/>
          <p:nvPr/>
        </p:nvSpPr>
        <p:spPr>
          <a:xfrm>
            <a:off x="6812280" y="4937760"/>
            <a:ext cx="4617720" cy="548640"/>
          </a:xfrm>
          <a:prstGeom prst="rect">
            <a:avLst/>
          </a:prstGeom>
          <a:noFill/>
          <a:ln/>
        </p:spPr>
        <p:txBody>
          <a:bodyPr wrap="square" lIns="0" tIns="0" rIns="0" bIns="0" rtlCol="0" anchor="t"/>
          <a:lstStyle/>
          <a:p>
            <a:pPr indent="0" marL="0">
              <a:buNone/>
            </a:pPr>
            <a:r>
              <a:rPr lang="en-US" sz="1400" dirty="0">
                <a:solidFill>
                  <a:schemeClr val="tx1"/>
                </a:solidFill>
              </a:rPr>
              <a:t>to measure: sources that disagree, caught before the meeting</a:t>
            </a:r>
            <a:endParaRPr lang="en-US" sz="1400" dirty="0"/>
          </a:p>
        </p:txBody>
      </p:sp>
      <p:sp>
        <p:nvSpPr>
          <p:cNvPr id="13" name="Value footnote"/>
          <p:cNvSpPr txBox="1"/>
          <p:nvPr/>
        </p:nvSpPr>
        <p:spPr>
          <a:xfrm>
            <a:off x="548640" y="5852160"/>
            <a:ext cx="11064240" cy="457200"/>
          </a:xfrm>
          <a:prstGeom prst="rect">
            <a:avLst/>
          </a:prstGeom>
          <a:noFill/>
          <a:ln/>
        </p:spPr>
        <p:txBody>
          <a:bodyPr wrap="square" lIns="0" tIns="0" rIns="0" bIns="0" rtlCol="0" anchor="ctr"/>
          <a:lstStyle/>
          <a:p>
            <a:pPr indent="0" marL="0">
              <a:buNone/>
            </a:pPr>
            <a:r>
              <a:rPr lang="en-US" sz="1200" dirty="0">
                <a:solidFill>
                  <a:schemeClr val="accent4"/>
                </a:solidFill>
              </a:rPr>
              <a:t>Assumptions are illustrative and editable in the value model spreadsheet. A pilot would replace them with measured times.</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Guardrails and next steps</a:t>
            </a:r>
            <a:endParaRPr lang="en-US" sz="3400" dirty="0"/>
          </a:p>
        </p:txBody>
      </p:sp>
      <p:sp>
        <p:nvSpPr>
          <p:cNvPr id="3" name="Guardrails card"/>
          <p:cNvSpPr/>
          <p:nvPr/>
        </p:nvSpPr>
        <p:spPr>
          <a:xfrm>
            <a:off x="548640" y="1463040"/>
            <a:ext cx="5394960" cy="4663440"/>
          </a:xfrm>
          <a:prstGeom prst="roundRect">
            <a:avLst>
              <a:gd name="adj" fmla="val 2353"/>
            </a:avLst>
          </a:prstGeom>
          <a:solidFill>
            <a:schemeClr val="bg2"/>
          </a:solidFill>
          <a:ln w="12700">
            <a:solidFill>
              <a:schemeClr val="bg2"/>
            </a:solidFill>
            <a:prstDash val="solid"/>
          </a:ln>
        </p:spPr>
      </p:sp>
      <p:sp>
        <p:nvSpPr>
          <p:cNvPr id="4" name="Guardrails heading"/>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Guardrails</a:t>
            </a:r>
            <a:endParaRPr lang="en-US" sz="2000" dirty="0"/>
          </a:p>
        </p:txBody>
      </p:sp>
      <p:sp>
        <p:nvSpPr>
          <p:cNvPr id="5" name="Guardrails list"/>
          <p:cNvSpPr txBox="1"/>
          <p:nvPr/>
        </p:nvSpPr>
        <p:spPr>
          <a:xfrm>
            <a:off x="822960" y="214884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A clinician approves before anything is saved</a:t>
            </a:r>
            <a:endParaRPr lang="en-US" sz="1600" dirty="0"/>
          </a:p>
          <a:p>
            <a:pPr marL="342900" indent="-342900">
              <a:spcAft>
                <a:spcPts val="800"/>
              </a:spcAft>
              <a:buSzPct val="100000"/>
              <a:buChar char="•"/>
            </a:pPr>
            <a:r>
              <a:rPr lang="en-US" sz="1600" dirty="0">
                <a:solidFill>
                  <a:schemeClr val="tx1"/>
                </a:solidFill>
              </a:rPr>
              <a:t>No write to the patient record</a:t>
            </a:r>
            <a:endParaRPr lang="en-US" sz="1600" dirty="0"/>
          </a:p>
          <a:p>
            <a:pPr marL="342900" indent="-342900">
              <a:spcAft>
                <a:spcPts val="800"/>
              </a:spcAft>
              <a:buSzPct val="100000"/>
              <a:buChar char="•"/>
            </a:pPr>
            <a:r>
              <a:rPr lang="en-US" sz="1600" dirty="0">
                <a:solidFill>
                  <a:schemeClr val="tx1"/>
                </a:solidFill>
              </a:rPr>
              <a:t>Every run and approval is logged</a:t>
            </a:r>
            <a:endParaRPr lang="en-US" sz="1600" dirty="0"/>
          </a:p>
          <a:p>
            <a:pPr marL="342900" indent="-342900">
              <a:spcAft>
                <a:spcPts val="800"/>
              </a:spcAft>
              <a:buSzPct val="100000"/>
              <a:buChar char="•"/>
            </a:pPr>
            <a:r>
              <a:rPr lang="en-US" sz="1600" dirty="0">
                <a:solidFill>
                  <a:schemeClr val="tx1"/>
                </a:solidFill>
              </a:rPr>
              <a:t>The agent sees patient data only through scoped record tools</a:t>
            </a:r>
            <a:endParaRPr lang="en-US" sz="1600" dirty="0"/>
          </a:p>
          <a:p>
            <a:pPr marL="342900" indent="-342900">
              <a:spcAft>
                <a:spcPts val="800"/>
              </a:spcAft>
              <a:buSzPct val="100000"/>
              <a:buChar char="•"/>
            </a:pPr>
            <a:r>
              <a:rPr lang="en-US" sz="1600" dirty="0">
                <a:solidFill>
                  <a:schemeClr val="tx1"/>
                </a:solidFill>
              </a:rPr>
              <a:t>Synthetic data only in this demo</a:t>
            </a:r>
            <a:endParaRPr lang="en-US" sz="1600" dirty="0"/>
          </a:p>
          <a:p>
            <a:pPr marL="342900" indent="-342900">
              <a:spcAft>
                <a:spcPts val="800"/>
              </a:spcAft>
              <a:buSzPct val="100000"/>
              <a:buChar char="•"/>
            </a:pPr>
            <a:r>
              <a:rPr lang="en-US" sz="1600" dirty="0">
                <a:solidFill>
                  <a:schemeClr val="tx1"/>
                </a:solidFill>
              </a:rPr>
              <a:t>Before real patient data: confirm the business associate agreement and data retention terms with OpenAI</a:t>
            </a:r>
            <a:endParaRPr lang="en-US" sz="1600" dirty="0"/>
          </a:p>
        </p:txBody>
      </p:sp>
      <p:sp>
        <p:nvSpPr>
          <p:cNvPr id="6" name="Next steps card"/>
          <p:cNvSpPr/>
          <p:nvPr/>
        </p:nvSpPr>
        <p:spPr>
          <a:xfrm>
            <a:off x="6263640" y="1463040"/>
            <a:ext cx="5394960" cy="4663440"/>
          </a:xfrm>
          <a:prstGeom prst="roundRect">
            <a:avLst>
              <a:gd name="adj" fmla="val 2353"/>
            </a:avLst>
          </a:prstGeom>
          <a:solidFill>
            <a:schemeClr val="bg2"/>
          </a:solidFill>
          <a:ln w="12700">
            <a:solidFill>
              <a:schemeClr val="bg2"/>
            </a:solidFill>
            <a:prstDash val="solid"/>
          </a:ln>
        </p:spPr>
      </p:sp>
      <p:sp>
        <p:nvSpPr>
          <p:cNvPr id="7" name="Next steps heading"/>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Next steps</a:t>
            </a:r>
            <a:endParaRPr lang="en-US" sz="2000" dirty="0"/>
          </a:p>
        </p:txBody>
      </p:sp>
      <p:sp>
        <p:nvSpPr>
          <p:cNvPr id="8" name="Next steps list"/>
          <p:cNvSpPr txBox="1"/>
          <p:nvPr/>
        </p:nvSpPr>
        <p:spPr>
          <a:xfrm>
            <a:off x="6537960" y="2148840"/>
            <a:ext cx="4846320" cy="38404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Weeks 1 to 4: run on 50 de-identified past cases and compare with the tumor board notes</a:t>
            </a:r>
            <a:endParaRPr lang="en-US" sz="1600" dirty="0"/>
          </a:p>
          <a:p>
            <a:pPr marL="342900" indent="-342900">
              <a:spcAft>
                <a:spcPts val="1000"/>
              </a:spcAft>
              <a:buSzPct val="100000"/>
              <a:buFont typeface="+mj-lt"/>
              <a:buAutoNum type="arabicPeriod" startAt="2"/>
            </a:pPr>
            <a:r>
              <a:rPr lang="en-US" sz="1600" dirty="0">
                <a:solidFill>
                  <a:schemeClr val="tx1"/>
                </a:solidFill>
              </a:rPr>
              <a:t>Weeks 5 to 8: read-only connection to the record system, with oncologist feedback</a:t>
            </a:r>
            <a:endParaRPr lang="en-US" sz="1600" dirty="0"/>
          </a:p>
          <a:p>
            <a:pPr marL="342900" indent="-342900">
              <a:spcAft>
                <a:spcPts val="1000"/>
              </a:spcAft>
              <a:buSzPct val="100000"/>
              <a:buFont typeface="+mj-lt"/>
              <a:buAutoNum type="arabicPeriod" startAt="3"/>
            </a:pPr>
            <a:r>
              <a:rPr lang="en-US" sz="1600" dirty="0">
                <a:solidFill>
                  <a:schemeClr val="tx1"/>
                </a:solidFill>
              </a:rPr>
              <a:t>Measure prep time, conflicts caught and how often clinicians edit the draft</a:t>
            </a:r>
            <a:endParaRPr lang="en-US" sz="1600" dirty="0"/>
          </a:p>
          <a:p>
            <a:pPr marL="342900" indent="-342900">
              <a:spcAft>
                <a:spcPts val="1000"/>
              </a:spcAft>
              <a:buSzPct val="100000"/>
              <a:buFont typeface="+mj-lt"/>
              <a:buAutoNum type="arabicPeriod" startAt="4"/>
            </a:pPr>
            <a:r>
              <a:rPr lang="en-US" sz="1600" dirty="0">
                <a:solidFill>
                  <a:schemeClr val="tx1"/>
                </a:solidFill>
              </a:rPr>
              <a:t>Then decide whether to add more cancer types or trial matching</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Case prep">
  <a:themeElements>
    <a:clrScheme name="Case prep">
      <a:dk1>
        <a:srgbClr val="17212B"/>
      </a:dk1>
      <a:lt1>
        <a:srgbClr val="FFFFFF"/>
      </a:lt1>
      <a:dk2>
        <a:srgbClr val="0B3D3A"/>
      </a:dk2>
      <a:lt2>
        <a:srgbClr val="EEF4F2"/>
      </a:lt2>
      <a:accent1>
        <a:srgbClr val="0F766E"/>
      </a:accent1>
      <a:accent2>
        <a:srgbClr val="C2410C"/>
      </a:accent2>
      <a:accent3>
        <a:srgbClr val="534AB7"/>
      </a:accent3>
      <a:accent4>
        <a:srgbClr val="5F6B76"/>
      </a:accent4>
      <a:accent5>
        <a:srgbClr val="B45309"/>
      </a:accent5>
      <a:accent6>
        <a:srgbClr val="2563EB"/>
      </a:accent6>
      <a:hlink>
        <a:srgbClr val="0F766E"/>
      </a:hlink>
      <a:folHlink>
        <a:srgbClr val="5F6B76"/>
      </a:folHlink>
    </a:clrScheme>
    <a:fontScheme name="Case pre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Preparing breast cancer cases for tumor board</dc:title>
  <dc:subject>PptxGenJS Presentation</dc:subject>
  <dc:creator>PptxGenJS</dc:creator>
  <cp:lastModifiedBy>PptxGenJS</cp:lastModifiedBy>
  <cp:revision>1</cp:revision>
  <dcterms:created xsi:type="dcterms:W3CDTF">2026-10-28T19:50:10Z</dcterms:created>
  <dcterms:modified xsi:type="dcterms:W3CDTF">2026-10-28T19:50:10Z</dcterms:modified>
</cp:coreProperties>
</file>